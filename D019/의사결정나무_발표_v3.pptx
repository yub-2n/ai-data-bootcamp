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6236"/>
    <p:restoredTop sz="94610"/>
  </p:normalViewPr>
  <p:slideViewPr>
    <p:cSldViewPr snapToGrid="0" snapToObjects="1">
      <p:cViewPr varScale="1">
        <p:scale>
          <a:sx n="117" d="100"/>
          <a:sy n="117" d="100"/>
        </p:scale>
        <p:origin x="9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학습 정확도</c:v>
                </c:pt>
              </c:strCache>
            </c:strRef>
          </c:tx>
          <c:spPr>
            <a:ln w="38100" cap="flat">
              <a:solidFill>
                <a:srgbClr val="2C5F2D"/>
              </a:solidFill>
              <a:prstDash val="solid"/>
              <a:round/>
            </a:ln>
            <a:effectLst/>
          </c:spPr>
          <c:marker>
            <c:symbol val="circle"/>
            <c:size val="6"/>
            <c:spPr>
              <a:solidFill>
                <a:srgbClr val="2C5F2D"/>
              </a:solidFill>
              <a:ln w="9525" cap="flat">
                <a:solidFill>
                  <a:srgbClr val="2C5F2D"/>
                </a:solidFill>
                <a:prstDash val="solid"/>
                <a:round/>
              </a:ln>
              <a:effectLst/>
            </c:spPr>
          </c:marker>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0.82</c:v>
                </c:pt>
                <c:pt idx="1">
                  <c:v>0.88</c:v>
                </c:pt>
                <c:pt idx="2">
                  <c:v>0.92</c:v>
                </c:pt>
                <c:pt idx="3">
                  <c:v>0.96</c:v>
                </c:pt>
                <c:pt idx="4">
                  <c:v>0.99</c:v>
                </c:pt>
                <c:pt idx="5">
                  <c:v>1</c:v>
                </c:pt>
                <c:pt idx="6">
                  <c:v>1</c:v>
                </c:pt>
                <c:pt idx="7">
                  <c:v>1</c:v>
                </c:pt>
              </c:numCache>
            </c:numRef>
          </c:val>
          <c:smooth val="0"/>
          <c:extLst>
            <c:ext xmlns:c16="http://schemas.microsoft.com/office/drawing/2014/chart" uri="{C3380CC4-5D6E-409C-BE32-E72D297353CC}">
              <c16:uniqueId val="{00000000-D92D-9C4E-968B-233570AF7920}"/>
            </c:ext>
          </c:extLst>
        </c:ser>
        <c:ser>
          <c:idx val="1"/>
          <c:order val="1"/>
          <c:tx>
            <c:strRef>
              <c:f>Sheet1!$C$1</c:f>
              <c:strCache>
                <c:ptCount val="1"/>
                <c:pt idx="0">
                  <c:v>테스트 정확도</c:v>
                </c:pt>
              </c:strCache>
            </c:strRef>
          </c:tx>
          <c:spPr>
            <a:ln w="38100" cap="flat">
              <a:solidFill>
                <a:srgbClr val="B8841E"/>
              </a:solidFill>
              <a:prstDash val="solid"/>
              <a:round/>
            </a:ln>
            <a:effectLst/>
          </c:spPr>
          <c:marker>
            <c:symbol val="circle"/>
            <c:size val="6"/>
            <c:spPr>
              <a:solidFill>
                <a:srgbClr val="B8841E"/>
              </a:solidFill>
              <a:ln w="9525" cap="flat">
                <a:solidFill>
                  <a:srgbClr val="B8841E"/>
                </a:solidFill>
                <a:prstDash val="solid"/>
                <a:round/>
              </a:ln>
              <a:effectLst/>
            </c:spPr>
          </c:marker>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0.8</c:v>
                </c:pt>
                <c:pt idx="1">
                  <c:v>0.85</c:v>
                </c:pt>
                <c:pt idx="2">
                  <c:v>0.88</c:v>
                </c:pt>
                <c:pt idx="3">
                  <c:v>0.9</c:v>
                </c:pt>
                <c:pt idx="4">
                  <c:v>0.89</c:v>
                </c:pt>
                <c:pt idx="5">
                  <c:v>0.86</c:v>
                </c:pt>
                <c:pt idx="6">
                  <c:v>0.84</c:v>
                </c:pt>
                <c:pt idx="7">
                  <c:v>0.82</c:v>
                </c:pt>
              </c:numCache>
            </c:numRef>
          </c:val>
          <c:smooth val="0"/>
          <c:extLst>
            <c:ext xmlns:c16="http://schemas.microsoft.com/office/drawing/2014/chart" uri="{C3380CC4-5D6E-409C-BE32-E72D297353CC}">
              <c16:uniqueId val="{00000001-D92D-9C4E-968B-233570AF792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27321F"/>
                    </a:solidFill>
                    <a:latin typeface="Arial"/>
                  </a:defRPr>
                </a:pPr>
                <a:r>
                  <a:rPr lang="ko-KR" altLang="en-US" b="0" i="0" u="none" strike="noStrike">
                    <a:solidFill>
                      <a:srgbClr val="27321F"/>
                    </a:solidFill>
                    <a:latin typeface="Arial"/>
                  </a:rPr>
                  <a:t>트리 깊이</a:t>
                </a:r>
                <a:r>
                  <a:rPr lang="en-US" altLang="ko-KR" b="0" i="0" u="none" strike="noStrike">
                    <a:solidFill>
                      <a:srgbClr val="27321F"/>
                    </a:solidFill>
                    <a:latin typeface="Arial"/>
                  </a:rPr>
                  <a:t>(</a:t>
                </a:r>
                <a:r>
                  <a:rPr lang="en" b="0" i="0" u="none" strike="noStrike">
                    <a:solidFill>
                      <a:srgbClr val="27321F"/>
                    </a:solidFill>
                    <a:latin typeface="Arial"/>
                  </a:rPr>
                  <a:t>max_depth)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5E"/>
                </a:solidFill>
                <a:latin typeface="Arial"/>
              </a:defRPr>
            </a:pPr>
            <a:endParaRPr lang="en-US"/>
          </a:p>
        </c:txPr>
        <c:crossAx val="2094734552"/>
        <c:crosses val="autoZero"/>
        <c:auto val="1"/>
        <c:lblAlgn val="ctr"/>
        <c:lblOffset val="100"/>
        <c:noMultiLvlLbl val="1"/>
      </c:catAx>
      <c:valAx>
        <c:axId val="2094734552"/>
        <c:scaling>
          <c:orientation val="minMax"/>
          <c:max val="1.02"/>
          <c:min val="0.7"/>
        </c:scaling>
        <c:delete val="0"/>
        <c:axPos val="l"/>
        <c:majorGridlines>
          <c:spPr>
            <a:ln w="12700" cap="flat">
              <a:solidFill>
                <a:srgbClr val="EAEAEA"/>
              </a:solidFill>
              <a:prstDash val="solid"/>
              <a:round/>
            </a:ln>
          </c:spPr>
        </c:majorGridlines>
        <c:title>
          <c:tx>
            <c:rich>
              <a:bodyPr/>
              <a:lstStyle/>
              <a:p>
                <a:pPr>
                  <a:defRPr b="0" i="0" u="none" strike="noStrike">
                    <a:solidFill>
                      <a:srgbClr val="27321F"/>
                    </a:solidFill>
                    <a:latin typeface="Arial"/>
                  </a:defRPr>
                </a:pPr>
                <a:r>
                  <a:rPr lang="ko-KR" altLang="en-US" b="0" i="0" u="none" strike="noStrike">
                    <a:solidFill>
                      <a:srgbClr val="27321F"/>
                    </a:solidFill>
                    <a:latin typeface="Arial"/>
                  </a:rPr>
                  <a:t>정확도</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5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7321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17453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오프닝: "우리는 구독 서비스 모두플레이의 데이터 분석가입니다. 앞서 선형·로지스틱 회귀로 답을 냈는데, 오늘은 다른 방식으로 패턴을 보는 모델 — 의사결정나무입니다."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"머신러닝 모델 중 가장 사람처럼 생각하는 모델입니다. 소개팅 상대를 스무고개로 맞힌다고 생각해보세요."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"여동생이 소개팅에 나갈지 예측한다고 합시다. 이런 질문(노드)을 가지로 뻗으며 내려가면 마지막 잎에서 답이 나옵니다."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"'순수하게 나뉘었다'는 걸 먼저 느낌으로 잡아봅시다. 한쪽으로 완전히 쏠려 있으면 확실한 상태, 반반 섞여 있으면 가장 헷갈리는 상태입니다. 이 섞인 정도를 재는 게 불순도이고, 그걸 실제 공식으로 계산하는 방법이 지니 계수입니다."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"트리가 만드는 질문 하나는 사실 '분할변수(어떤 열을 볼지)'와 '분할점(그 열의 어떤 값을 기준으로 자를지)'의 조합입니다. 예를 들어 공부시간(x1) 기준으로 나눌 수도, 시험성적(x2) 기준으로 나눌 수도 있고, 각각 여러 후보 분할점이 있습니다. 트리는 이 모든 조합을 다 시도해보고 가장 좋은 걸 고릅니다."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"분할점 s=1로 나누면 전체 지니 불순도가 1/3인데, s=2로 나누면 두 그룹 모두 완전히 순수해져서(같은 클래스만 모임) 지니 불순도가 0이 됩니다. 지니 불순도가 더 낮은 s=2가 이 변수에서는 최적의 분할점입니다. 같은 방식으로 x2(시험성적)의 후보들과도 비교해서, 전체 중 가장 낮은 지니를 주는 조합이 실제 첫 질문(루트)이 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"정보이득은 '분할 전 불순도에서 분할 후 불순도를 얼마나 뺐는가'를 재는 지표입니다. 값이 클수록 그 분할이 더 좋습니다. 같은 예시에서 분할 전 지니는 0.5인데, s=2로 나누면 분할 후 지니가 0이 되니 정보이득이 0.5로 최댓값이 됩니다. 이건 슬라이드 6에서 지니 계수만 비교했을 때 s=2가 최적이라고 나온 것과 완전히 같은 결론입니다."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"로지스틱 회귀의 경계는 직선이었죠. 트리는 한 번에 한 피처를 기준으로 자르기 때문에 경계가 계단 모양이 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점수는 1.000까지 올라가는데 테스트 점수는 어느 지점에서 꺾여 정체합니다. 이 격차가 과적합의 증거입니다."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크게 읽고 잠깐 멈추기 — 다음 슬라이드의 문제로 바로 이어진다.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"이것들이 트리의 하이퍼파라미터입니다 — 사람이 정하는 값이에요."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S팀원을 지목해 판단+이유를 먼저 말하게 하고, 다음 슬라이드로 넘어가 해설과 비교하기.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문제가 핵심 메시지 ②를 그대로 테스트합니다 — S팀이 '격차'라는 단어를 직접 쓰는지 확인.</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분할변수/분할점 용어를 실제로 쓰는지가 채점 포인트. 필요하면 힌트: '첫 구매 후 경과일'과 '문의 건수' 두 변수를 순서대로 나눠보라고 유도.</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문제는 트리의 존재 이유(선형모델이 못 잡는 조합 패턴)와 분할변수/분할점 메커니즘을 동시에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 오늘 핵심 문장을 한 번 더 읽고 마칩니다.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flipH="1">
            <a:off x="8778240" y="1005840"/>
            <a:ext cx="731520" cy="822960"/>
          </a:xfrm>
          <a:prstGeom prst="line">
            <a:avLst/>
          </a:prstGeom>
          <a:noFill/>
          <a:ln w="19050">
            <a:solidFill>
              <a:srgbClr val="97BC62"/>
            </a:solidFill>
            <a:prstDash val="solid"/>
          </a:ln>
        </p:spPr>
        <p:txBody>
          <a:bodyPr/>
          <a:lstStyle/>
          <a:p>
            <a:endParaRPr lang="ko-KR" altLang="en-US"/>
          </a:p>
        </p:txBody>
      </p:sp>
      <p:sp>
        <p:nvSpPr>
          <p:cNvPr id="3" name="Shape 1"/>
          <p:cNvSpPr/>
          <p:nvPr/>
        </p:nvSpPr>
        <p:spPr>
          <a:xfrm>
            <a:off x="9509760" y="1005840"/>
            <a:ext cx="731520" cy="822960"/>
          </a:xfrm>
          <a:prstGeom prst="line">
            <a:avLst/>
          </a:prstGeom>
          <a:noFill/>
          <a:ln w="19050">
            <a:solidFill>
              <a:srgbClr val="97BC62"/>
            </a:solidFill>
            <a:prstDash val="solid"/>
          </a:ln>
        </p:spPr>
        <p:txBody>
          <a:bodyPr/>
          <a:lstStyle/>
          <a:p>
            <a:endParaRPr lang="ko-KR" altLang="en-US"/>
          </a:p>
        </p:txBody>
      </p:sp>
      <p:sp>
        <p:nvSpPr>
          <p:cNvPr id="4" name="Shape 2"/>
          <p:cNvSpPr/>
          <p:nvPr/>
        </p:nvSpPr>
        <p:spPr>
          <a:xfrm flipH="1">
            <a:off x="8321040" y="1828800"/>
            <a:ext cx="457200" cy="822960"/>
          </a:xfrm>
          <a:prstGeom prst="line">
            <a:avLst/>
          </a:prstGeom>
          <a:noFill/>
          <a:ln w="19050">
            <a:solidFill>
              <a:srgbClr val="97BC62"/>
            </a:solidFill>
            <a:prstDash val="solid"/>
          </a:ln>
        </p:spPr>
        <p:txBody>
          <a:bodyPr/>
          <a:lstStyle/>
          <a:p>
            <a:endParaRPr lang="ko-KR" altLang="en-US"/>
          </a:p>
        </p:txBody>
      </p:sp>
      <p:sp>
        <p:nvSpPr>
          <p:cNvPr id="5" name="Shape 3"/>
          <p:cNvSpPr/>
          <p:nvPr/>
        </p:nvSpPr>
        <p:spPr>
          <a:xfrm>
            <a:off x="8778240" y="1828800"/>
            <a:ext cx="365760" cy="822960"/>
          </a:xfrm>
          <a:prstGeom prst="line">
            <a:avLst/>
          </a:prstGeom>
          <a:noFill/>
          <a:ln w="19050">
            <a:solidFill>
              <a:srgbClr val="97BC62"/>
            </a:solidFill>
            <a:prstDash val="solid"/>
          </a:ln>
        </p:spPr>
        <p:txBody>
          <a:bodyPr/>
          <a:lstStyle/>
          <a:p>
            <a:endParaRPr lang="ko-KR" altLang="en-US"/>
          </a:p>
        </p:txBody>
      </p:sp>
      <p:sp>
        <p:nvSpPr>
          <p:cNvPr id="6" name="Shape 4"/>
          <p:cNvSpPr/>
          <p:nvPr/>
        </p:nvSpPr>
        <p:spPr>
          <a:xfrm flipH="1">
            <a:off x="9875520" y="1828800"/>
            <a:ext cx="365760" cy="822960"/>
          </a:xfrm>
          <a:prstGeom prst="line">
            <a:avLst/>
          </a:prstGeom>
          <a:noFill/>
          <a:ln w="19050">
            <a:solidFill>
              <a:srgbClr val="97BC62"/>
            </a:solidFill>
            <a:prstDash val="solid"/>
          </a:ln>
        </p:spPr>
        <p:txBody>
          <a:bodyPr/>
          <a:lstStyle/>
          <a:p>
            <a:endParaRPr lang="ko-KR" altLang="en-US"/>
          </a:p>
        </p:txBody>
      </p:sp>
      <p:sp>
        <p:nvSpPr>
          <p:cNvPr id="7" name="Shape 5"/>
          <p:cNvSpPr/>
          <p:nvPr/>
        </p:nvSpPr>
        <p:spPr>
          <a:xfrm>
            <a:off x="10241280" y="1828800"/>
            <a:ext cx="457200" cy="822960"/>
          </a:xfrm>
          <a:prstGeom prst="line">
            <a:avLst/>
          </a:prstGeom>
          <a:noFill/>
          <a:ln w="19050">
            <a:solidFill>
              <a:srgbClr val="97BC62"/>
            </a:solidFill>
            <a:prstDash val="solid"/>
          </a:ln>
        </p:spPr>
        <p:txBody>
          <a:bodyPr/>
          <a:lstStyle/>
          <a:p>
            <a:endParaRPr lang="ko-KR" altLang="en-US"/>
          </a:p>
        </p:txBody>
      </p:sp>
      <p:sp>
        <p:nvSpPr>
          <p:cNvPr id="8" name="Shape 6"/>
          <p:cNvSpPr/>
          <p:nvPr/>
        </p:nvSpPr>
        <p:spPr>
          <a:xfrm>
            <a:off x="9363456" y="859536"/>
            <a:ext cx="292608" cy="292608"/>
          </a:xfrm>
          <a:prstGeom prst="ellipse">
            <a:avLst/>
          </a:prstGeom>
          <a:solidFill>
            <a:srgbClr val="D9A62E"/>
          </a:solidFill>
          <a:ln w="12700">
            <a:solidFill>
              <a:srgbClr val="2C5F2D"/>
            </a:solidFill>
            <a:prstDash val="solid"/>
          </a:ln>
        </p:spPr>
        <p:txBody>
          <a:bodyPr/>
          <a:lstStyle/>
          <a:p>
            <a:endParaRPr lang="ko-KR" altLang="en-US"/>
          </a:p>
        </p:txBody>
      </p:sp>
      <p:sp>
        <p:nvSpPr>
          <p:cNvPr id="9" name="Shape 7"/>
          <p:cNvSpPr/>
          <p:nvPr/>
        </p:nvSpPr>
        <p:spPr>
          <a:xfrm>
            <a:off x="8659368" y="1709928"/>
            <a:ext cx="237744" cy="237744"/>
          </a:xfrm>
          <a:prstGeom prst="ellipse">
            <a:avLst/>
          </a:prstGeom>
          <a:solidFill>
            <a:srgbClr val="97BC62"/>
          </a:solidFill>
          <a:ln w="12700">
            <a:solidFill>
              <a:srgbClr val="2C5F2D"/>
            </a:solidFill>
            <a:prstDash val="solid"/>
          </a:ln>
        </p:spPr>
        <p:txBody>
          <a:bodyPr/>
          <a:lstStyle/>
          <a:p>
            <a:endParaRPr lang="ko-KR" altLang="en-US"/>
          </a:p>
        </p:txBody>
      </p:sp>
      <p:sp>
        <p:nvSpPr>
          <p:cNvPr id="10" name="Shape 8"/>
          <p:cNvSpPr/>
          <p:nvPr/>
        </p:nvSpPr>
        <p:spPr>
          <a:xfrm>
            <a:off x="10122408" y="1709928"/>
            <a:ext cx="237744" cy="237744"/>
          </a:xfrm>
          <a:prstGeom prst="ellipse">
            <a:avLst/>
          </a:prstGeom>
          <a:solidFill>
            <a:srgbClr val="97BC62"/>
          </a:solidFill>
          <a:ln w="12700">
            <a:solidFill>
              <a:srgbClr val="2C5F2D"/>
            </a:solidFill>
            <a:prstDash val="solid"/>
          </a:ln>
        </p:spPr>
        <p:txBody>
          <a:bodyPr/>
          <a:lstStyle/>
          <a:p>
            <a:endParaRPr lang="ko-KR" altLang="en-US"/>
          </a:p>
        </p:txBody>
      </p:sp>
      <p:sp>
        <p:nvSpPr>
          <p:cNvPr id="11" name="Shape 9"/>
          <p:cNvSpPr/>
          <p:nvPr/>
        </p:nvSpPr>
        <p:spPr>
          <a:xfrm>
            <a:off x="8229600" y="2560320"/>
            <a:ext cx="182880" cy="182880"/>
          </a:xfrm>
          <a:prstGeom prst="ellipse">
            <a:avLst/>
          </a:prstGeom>
          <a:solidFill>
            <a:srgbClr val="97BC62"/>
          </a:solidFill>
          <a:ln w="12700">
            <a:solidFill>
              <a:srgbClr val="2C5F2D"/>
            </a:solidFill>
            <a:prstDash val="solid"/>
          </a:ln>
        </p:spPr>
        <p:txBody>
          <a:bodyPr/>
          <a:lstStyle/>
          <a:p>
            <a:endParaRPr lang="ko-KR" altLang="en-US"/>
          </a:p>
        </p:txBody>
      </p:sp>
      <p:sp>
        <p:nvSpPr>
          <p:cNvPr id="12" name="Shape 10"/>
          <p:cNvSpPr/>
          <p:nvPr/>
        </p:nvSpPr>
        <p:spPr>
          <a:xfrm>
            <a:off x="9052560" y="2560320"/>
            <a:ext cx="182880" cy="182880"/>
          </a:xfrm>
          <a:prstGeom prst="ellipse">
            <a:avLst/>
          </a:prstGeom>
          <a:solidFill>
            <a:srgbClr val="97BC62"/>
          </a:solidFill>
          <a:ln w="12700">
            <a:solidFill>
              <a:srgbClr val="2C5F2D"/>
            </a:solidFill>
            <a:prstDash val="solid"/>
          </a:ln>
        </p:spPr>
        <p:txBody>
          <a:bodyPr/>
          <a:lstStyle/>
          <a:p>
            <a:endParaRPr lang="ko-KR" altLang="en-US"/>
          </a:p>
        </p:txBody>
      </p:sp>
      <p:sp>
        <p:nvSpPr>
          <p:cNvPr id="13" name="Shape 11"/>
          <p:cNvSpPr/>
          <p:nvPr/>
        </p:nvSpPr>
        <p:spPr>
          <a:xfrm>
            <a:off x="9784080" y="2560320"/>
            <a:ext cx="182880" cy="182880"/>
          </a:xfrm>
          <a:prstGeom prst="ellipse">
            <a:avLst/>
          </a:prstGeom>
          <a:solidFill>
            <a:srgbClr val="97BC62"/>
          </a:solidFill>
          <a:ln w="12700">
            <a:solidFill>
              <a:srgbClr val="2C5F2D"/>
            </a:solidFill>
            <a:prstDash val="solid"/>
          </a:ln>
        </p:spPr>
        <p:txBody>
          <a:bodyPr/>
          <a:lstStyle/>
          <a:p>
            <a:endParaRPr lang="ko-KR" altLang="en-US"/>
          </a:p>
        </p:txBody>
      </p:sp>
      <p:sp>
        <p:nvSpPr>
          <p:cNvPr id="14" name="Shape 12"/>
          <p:cNvSpPr/>
          <p:nvPr/>
        </p:nvSpPr>
        <p:spPr>
          <a:xfrm>
            <a:off x="10607040" y="2560320"/>
            <a:ext cx="182880" cy="182880"/>
          </a:xfrm>
          <a:prstGeom prst="ellipse">
            <a:avLst/>
          </a:prstGeom>
          <a:solidFill>
            <a:srgbClr val="97BC62"/>
          </a:solidFill>
          <a:ln w="12700">
            <a:solidFill>
              <a:srgbClr val="2C5F2D"/>
            </a:solidFill>
            <a:prstDash val="solid"/>
          </a:ln>
        </p:spPr>
        <p:txBody>
          <a:bodyPr/>
          <a:lstStyle/>
          <a:p>
            <a:endParaRPr lang="ko-KR" altLang="en-US"/>
          </a:p>
        </p:txBody>
      </p:sp>
      <p:sp>
        <p:nvSpPr>
          <p:cNvPr id="16" name="Text 14"/>
          <p:cNvSpPr/>
          <p:nvPr/>
        </p:nvSpPr>
        <p:spPr>
          <a:xfrm>
            <a:off x="548640" y="2514600"/>
            <a:ext cx="8229600" cy="1188720"/>
          </a:xfrm>
          <a:prstGeom prst="rect">
            <a:avLst/>
          </a:prstGeom>
          <a:noFill/>
          <a:ln/>
        </p:spPr>
        <p:txBody>
          <a:bodyPr wrap="square" rtlCol="0" anchor="ctr"/>
          <a:lstStyle/>
          <a:p>
            <a:pPr marL="0" indent="0">
              <a:buNone/>
            </a:pPr>
            <a:r>
              <a:rPr lang="en-US" sz="5800" b="1" dirty="0">
                <a:solidFill>
                  <a:srgbClr val="FFFFFF"/>
                </a:solidFill>
                <a:latin typeface="맑은 고딕" pitchFamily="34" charset="0"/>
                <a:ea typeface="맑은 고딕" pitchFamily="34" charset="-122"/>
                <a:cs typeface="맑은 고딕" pitchFamily="34" charset="-120"/>
              </a:rPr>
              <a:t>의사결정나무</a:t>
            </a:r>
            <a:endParaRPr lang="en-US" sz="5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PART 1</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오늘 이 발표에서 답할 질문</a:t>
            </a:r>
            <a:endParaRPr lang="en-US" sz="2700" dirty="0"/>
          </a:p>
        </p:txBody>
      </p:sp>
      <p:sp>
        <p:nvSpPr>
          <p:cNvPr id="4" name="Shape 2"/>
          <p:cNvSpPr/>
          <p:nvPr/>
        </p:nvSpPr>
        <p:spPr>
          <a:xfrm>
            <a:off x="548640" y="2103120"/>
            <a:ext cx="11091672" cy="2377440"/>
          </a:xfrm>
          <a:prstGeom prst="roundRect">
            <a:avLst>
              <a:gd name="adj" fmla="val 3846"/>
            </a:avLst>
          </a:prstGeom>
          <a:solidFill>
            <a:srgbClr val="E3EFD3"/>
          </a:solidFill>
          <a:ln/>
          <a:effectLst>
            <a:outerShdw blurRad="63500" dist="25400" dir="5400000" algn="bl" rotWithShape="0">
              <a:srgbClr val="3A3A3A">
                <a:alpha val="14000"/>
              </a:srgbClr>
            </a:outerShdw>
          </a:effectLst>
        </p:spPr>
        <p:txBody>
          <a:bodyPr/>
          <a:lstStyle/>
          <a:p>
            <a:endParaRPr lang="ko-KR" altLang="en-US"/>
          </a:p>
        </p:txBody>
      </p:sp>
      <p:sp>
        <p:nvSpPr>
          <p:cNvPr id="5" name="Text 3"/>
          <p:cNvSpPr/>
          <p:nvPr/>
        </p:nvSpPr>
        <p:spPr>
          <a:xfrm>
            <a:off x="1097280" y="2103120"/>
            <a:ext cx="9994392" cy="2377440"/>
          </a:xfrm>
          <a:prstGeom prst="rect">
            <a:avLst/>
          </a:prstGeom>
          <a:noFill/>
          <a:ln/>
        </p:spPr>
        <p:txBody>
          <a:bodyPr wrap="square" rtlCol="0" anchor="ctr"/>
          <a:lstStyle/>
          <a:p>
            <a:pPr marL="0" indent="0">
              <a:buNone/>
            </a:pPr>
            <a:r>
              <a:rPr lang="en-US" sz="3000" b="1" i="1" dirty="0">
                <a:solidFill>
                  <a:srgbClr val="1E4220"/>
                </a:solidFill>
                <a:latin typeface="맑은 고딕" pitchFamily="34" charset="0"/>
                <a:ea typeface="맑은 고딕" pitchFamily="34" charset="-122"/>
                <a:cs typeface="맑은 고딕" pitchFamily="34" charset="-120"/>
              </a:rPr>
              <a:t>트리는 어떤 질문을,</a:t>
            </a:r>
            <a:endParaRPr lang="en-US" sz="3000" dirty="0"/>
          </a:p>
          <a:p>
            <a:pPr marL="0" indent="0">
              <a:buNone/>
            </a:pPr>
            <a:r>
              <a:rPr lang="en-US" sz="3000" b="1" i="1" dirty="0">
                <a:solidFill>
                  <a:srgbClr val="1E4220"/>
                </a:solidFill>
                <a:latin typeface="맑은 고딕" pitchFamily="34" charset="0"/>
                <a:ea typeface="맑은 고딕" pitchFamily="34" charset="-122"/>
                <a:cs typeface="맑은 고딕" pitchFamily="34" charset="-120"/>
              </a:rPr>
              <a:t>어떤 순서로 던져 데이터를 나눌까?</a:t>
            </a:r>
            <a:endParaRPr lang="en-US" sz="3000" dirty="0"/>
          </a:p>
        </p:txBody>
      </p:sp>
      <p:sp>
        <p:nvSpPr>
          <p:cNvPr id="6" name="Text 4"/>
          <p:cNvSpPr/>
          <p:nvPr/>
        </p:nvSpPr>
        <p:spPr>
          <a:xfrm>
            <a:off x="548640" y="4754880"/>
            <a:ext cx="11091672" cy="914400"/>
          </a:xfrm>
          <a:prstGeom prst="rect">
            <a:avLst/>
          </a:prstGeom>
          <a:noFill/>
          <a:ln/>
        </p:spPr>
        <p:txBody>
          <a:bodyPr wrap="square" rtlCol="0" anchor="ctr"/>
          <a:lstStyle/>
          <a:p>
            <a:pPr marL="0" indent="0">
              <a:buNone/>
            </a:pPr>
            <a:r>
              <a:rPr lang="en-US" sz="1500" dirty="0">
                <a:solidFill>
                  <a:srgbClr val="27321F"/>
                </a:solidFill>
                <a:latin typeface="맑은 고딕" pitchFamily="34" charset="0"/>
                <a:ea typeface="맑은 고딕" pitchFamily="34" charset="-122"/>
                <a:cs typeface="맑은 고딕" pitchFamily="34" charset="-120"/>
              </a:rPr>
              <a:t>스무고개를 떠올려 보세요 — "잘생겼어?" → "키 커?" 처럼, 좋은 질문을 좋은 순서로 던지면 데이터가 저절로 나뉩니다.</a:t>
            </a:r>
            <a:endParaRPr lang="en-US" sz="1500" dirty="0"/>
          </a:p>
        </p:txBody>
      </p:sp>
      <p:sp>
        <p:nvSpPr>
          <p:cNvPr id="7" name="Text 5"/>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쉽게 말하면</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질문(가지)을 타고 내려가면 답(잎)이 나온다</a:t>
            </a:r>
            <a:endParaRPr lang="en-US" sz="2700" dirty="0"/>
          </a:p>
        </p:txBody>
      </p:sp>
      <p:sp>
        <p:nvSpPr>
          <p:cNvPr id="4" name="Shape 2"/>
          <p:cNvSpPr/>
          <p:nvPr/>
        </p:nvSpPr>
        <p:spPr>
          <a:xfrm flipH="1">
            <a:off x="2788920" y="2697480"/>
            <a:ext cx="3017520" cy="685800"/>
          </a:xfrm>
          <a:prstGeom prst="line">
            <a:avLst/>
          </a:prstGeom>
          <a:noFill/>
          <a:ln w="19050">
            <a:solidFill>
              <a:srgbClr val="AAB6A0"/>
            </a:solidFill>
            <a:prstDash val="solid"/>
          </a:ln>
        </p:spPr>
        <p:txBody>
          <a:bodyPr/>
          <a:lstStyle/>
          <a:p>
            <a:endParaRPr lang="ko-KR" altLang="en-US"/>
          </a:p>
        </p:txBody>
      </p:sp>
      <p:sp>
        <p:nvSpPr>
          <p:cNvPr id="5" name="Text 3"/>
          <p:cNvSpPr/>
          <p:nvPr/>
        </p:nvSpPr>
        <p:spPr>
          <a:xfrm>
            <a:off x="3840480" y="2839212"/>
            <a:ext cx="914400" cy="274320"/>
          </a:xfrm>
          <a:prstGeom prst="rect">
            <a:avLst/>
          </a:prstGeom>
          <a:solidFill>
            <a:srgbClr val="FFFFFF"/>
          </a:solidFill>
          <a:ln/>
        </p:spPr>
        <p:txBody>
          <a:bodyPr wrap="square" rtlCol="0" anchor="ctr"/>
          <a:lstStyle/>
          <a:p>
            <a:pPr marL="0" indent="0" algn="ctr">
              <a:buNone/>
            </a:pPr>
            <a:r>
              <a:rPr lang="en-US" sz="1000" i="1" dirty="0">
                <a:solidFill>
                  <a:srgbClr val="6B7A5E"/>
                </a:solidFill>
                <a:latin typeface="맑은 고딕" pitchFamily="34" charset="0"/>
                <a:ea typeface="맑은 고딕" pitchFamily="34" charset="-122"/>
                <a:cs typeface="맑은 고딕" pitchFamily="34" charset="-120"/>
              </a:rPr>
              <a:t>예</a:t>
            </a:r>
            <a:endParaRPr lang="en-US" sz="1000" dirty="0"/>
          </a:p>
        </p:txBody>
      </p:sp>
      <p:sp>
        <p:nvSpPr>
          <p:cNvPr id="6" name="Shape 4"/>
          <p:cNvSpPr/>
          <p:nvPr/>
        </p:nvSpPr>
        <p:spPr>
          <a:xfrm>
            <a:off x="5806440" y="2697480"/>
            <a:ext cx="2560320" cy="685800"/>
          </a:xfrm>
          <a:prstGeom prst="line">
            <a:avLst/>
          </a:prstGeom>
          <a:noFill/>
          <a:ln w="19050">
            <a:solidFill>
              <a:srgbClr val="AAB6A0"/>
            </a:solidFill>
            <a:prstDash val="solid"/>
          </a:ln>
        </p:spPr>
        <p:txBody>
          <a:bodyPr/>
          <a:lstStyle/>
          <a:p>
            <a:endParaRPr lang="ko-KR" altLang="en-US"/>
          </a:p>
        </p:txBody>
      </p:sp>
      <p:sp>
        <p:nvSpPr>
          <p:cNvPr id="7" name="Text 5"/>
          <p:cNvSpPr/>
          <p:nvPr/>
        </p:nvSpPr>
        <p:spPr>
          <a:xfrm>
            <a:off x="6629400" y="2839212"/>
            <a:ext cx="914400" cy="274320"/>
          </a:xfrm>
          <a:prstGeom prst="rect">
            <a:avLst/>
          </a:prstGeom>
          <a:solidFill>
            <a:srgbClr val="FFFFFF"/>
          </a:solidFill>
          <a:ln/>
        </p:spPr>
        <p:txBody>
          <a:bodyPr wrap="square" rtlCol="0" anchor="ctr"/>
          <a:lstStyle/>
          <a:p>
            <a:pPr marL="0" indent="0" algn="ctr">
              <a:buNone/>
            </a:pPr>
            <a:r>
              <a:rPr lang="en-US" sz="1000" i="1" dirty="0">
                <a:solidFill>
                  <a:srgbClr val="6B7A5E"/>
                </a:solidFill>
                <a:latin typeface="맑은 고딕" pitchFamily="34" charset="0"/>
                <a:ea typeface="맑은 고딕" pitchFamily="34" charset="-122"/>
                <a:cs typeface="맑은 고딕" pitchFamily="34" charset="-120"/>
              </a:rPr>
              <a:t>아니오</a:t>
            </a:r>
            <a:endParaRPr lang="en-US" sz="1000" dirty="0"/>
          </a:p>
        </p:txBody>
      </p:sp>
      <p:sp>
        <p:nvSpPr>
          <p:cNvPr id="8" name="Shape 6"/>
          <p:cNvSpPr/>
          <p:nvPr/>
        </p:nvSpPr>
        <p:spPr>
          <a:xfrm flipH="1">
            <a:off x="7040880" y="3977640"/>
            <a:ext cx="1325880" cy="731520"/>
          </a:xfrm>
          <a:prstGeom prst="line">
            <a:avLst/>
          </a:prstGeom>
          <a:noFill/>
          <a:ln w="19050">
            <a:solidFill>
              <a:srgbClr val="AAB6A0"/>
            </a:solidFill>
            <a:prstDash val="solid"/>
          </a:ln>
        </p:spPr>
        <p:txBody>
          <a:bodyPr/>
          <a:lstStyle/>
          <a:p>
            <a:endParaRPr lang="ko-KR" altLang="en-US"/>
          </a:p>
        </p:txBody>
      </p:sp>
      <p:sp>
        <p:nvSpPr>
          <p:cNvPr id="9" name="Text 7"/>
          <p:cNvSpPr/>
          <p:nvPr/>
        </p:nvSpPr>
        <p:spPr>
          <a:xfrm>
            <a:off x="7246620" y="4142232"/>
            <a:ext cx="914400" cy="274320"/>
          </a:xfrm>
          <a:prstGeom prst="rect">
            <a:avLst/>
          </a:prstGeom>
          <a:solidFill>
            <a:srgbClr val="FFFFFF"/>
          </a:solidFill>
          <a:ln/>
        </p:spPr>
        <p:txBody>
          <a:bodyPr wrap="square" rtlCol="0" anchor="ctr"/>
          <a:lstStyle/>
          <a:p>
            <a:pPr marL="0" indent="0" algn="ctr">
              <a:buNone/>
            </a:pPr>
            <a:r>
              <a:rPr lang="en-US" sz="1000" i="1" dirty="0">
                <a:solidFill>
                  <a:srgbClr val="6B7A5E"/>
                </a:solidFill>
                <a:latin typeface="맑은 고딕" pitchFamily="34" charset="0"/>
                <a:ea typeface="맑은 고딕" pitchFamily="34" charset="-122"/>
                <a:cs typeface="맑은 고딕" pitchFamily="34" charset="-120"/>
              </a:rPr>
              <a:t>예</a:t>
            </a:r>
            <a:endParaRPr lang="en-US" sz="1000" dirty="0"/>
          </a:p>
        </p:txBody>
      </p:sp>
      <p:sp>
        <p:nvSpPr>
          <p:cNvPr id="10" name="Shape 8"/>
          <p:cNvSpPr/>
          <p:nvPr/>
        </p:nvSpPr>
        <p:spPr>
          <a:xfrm>
            <a:off x="8366760" y="3977640"/>
            <a:ext cx="1143000" cy="731520"/>
          </a:xfrm>
          <a:prstGeom prst="line">
            <a:avLst/>
          </a:prstGeom>
          <a:noFill/>
          <a:ln w="19050">
            <a:solidFill>
              <a:srgbClr val="AAB6A0"/>
            </a:solidFill>
            <a:prstDash val="solid"/>
          </a:ln>
        </p:spPr>
        <p:txBody>
          <a:bodyPr/>
          <a:lstStyle/>
          <a:p>
            <a:endParaRPr lang="ko-KR" altLang="en-US"/>
          </a:p>
        </p:txBody>
      </p:sp>
      <p:sp>
        <p:nvSpPr>
          <p:cNvPr id="11" name="Text 9"/>
          <p:cNvSpPr/>
          <p:nvPr/>
        </p:nvSpPr>
        <p:spPr>
          <a:xfrm>
            <a:off x="8481060" y="4142232"/>
            <a:ext cx="914400" cy="274320"/>
          </a:xfrm>
          <a:prstGeom prst="rect">
            <a:avLst/>
          </a:prstGeom>
          <a:solidFill>
            <a:srgbClr val="FFFFFF"/>
          </a:solidFill>
          <a:ln/>
        </p:spPr>
        <p:txBody>
          <a:bodyPr wrap="square" rtlCol="0" anchor="ctr"/>
          <a:lstStyle/>
          <a:p>
            <a:pPr marL="0" indent="0" algn="ctr">
              <a:buNone/>
            </a:pPr>
            <a:r>
              <a:rPr lang="en-US" sz="1000" i="1" dirty="0">
                <a:solidFill>
                  <a:srgbClr val="6B7A5E"/>
                </a:solidFill>
                <a:latin typeface="맑은 고딕" pitchFamily="34" charset="0"/>
                <a:ea typeface="맑은 고딕" pitchFamily="34" charset="-122"/>
                <a:cs typeface="맑은 고딕" pitchFamily="34" charset="-120"/>
              </a:rPr>
              <a:t>아니오</a:t>
            </a:r>
            <a:endParaRPr lang="en-US" sz="1000" dirty="0"/>
          </a:p>
        </p:txBody>
      </p:sp>
      <p:sp>
        <p:nvSpPr>
          <p:cNvPr id="12" name="Shape 10"/>
          <p:cNvSpPr/>
          <p:nvPr/>
        </p:nvSpPr>
        <p:spPr>
          <a:xfrm>
            <a:off x="4754880" y="2103120"/>
            <a:ext cx="2103120" cy="594360"/>
          </a:xfrm>
          <a:prstGeom prst="roundRect">
            <a:avLst>
              <a:gd name="adj" fmla="val 12308"/>
            </a:avLst>
          </a:prstGeom>
          <a:solidFill>
            <a:srgbClr val="2C5F2D"/>
          </a:solidFill>
          <a:ln w="12700">
            <a:solidFill>
              <a:srgbClr val="1E4220"/>
            </a:solidFill>
            <a:prstDash val="solid"/>
          </a:ln>
        </p:spPr>
        <p:txBody>
          <a:bodyPr/>
          <a:lstStyle/>
          <a:p>
            <a:endParaRPr lang="ko-KR" altLang="en-US"/>
          </a:p>
        </p:txBody>
      </p:sp>
      <p:sp>
        <p:nvSpPr>
          <p:cNvPr id="13" name="Text 11"/>
          <p:cNvSpPr/>
          <p:nvPr/>
        </p:nvSpPr>
        <p:spPr>
          <a:xfrm>
            <a:off x="4754880" y="2103120"/>
            <a:ext cx="2103120" cy="594360"/>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질문: 잘생김?</a:t>
            </a:r>
            <a:endParaRPr lang="en-US" sz="1300" dirty="0"/>
          </a:p>
        </p:txBody>
      </p:sp>
      <p:sp>
        <p:nvSpPr>
          <p:cNvPr id="14" name="Shape 12"/>
          <p:cNvSpPr/>
          <p:nvPr/>
        </p:nvSpPr>
        <p:spPr>
          <a:xfrm>
            <a:off x="1828800" y="3383280"/>
            <a:ext cx="1920240" cy="594360"/>
          </a:xfrm>
          <a:prstGeom prst="roundRect">
            <a:avLst>
              <a:gd name="adj" fmla="val 12308"/>
            </a:avLst>
          </a:prstGeom>
          <a:solidFill>
            <a:srgbClr val="97BC62"/>
          </a:solidFill>
          <a:ln w="12700">
            <a:solidFill>
              <a:srgbClr val="1E4220"/>
            </a:solidFill>
            <a:prstDash val="solid"/>
          </a:ln>
        </p:spPr>
        <p:txBody>
          <a:bodyPr/>
          <a:lstStyle/>
          <a:p>
            <a:endParaRPr lang="ko-KR" altLang="en-US"/>
          </a:p>
        </p:txBody>
      </p:sp>
      <p:sp>
        <p:nvSpPr>
          <p:cNvPr id="15" name="Text 13"/>
          <p:cNvSpPr/>
          <p:nvPr/>
        </p:nvSpPr>
        <p:spPr>
          <a:xfrm>
            <a:off x="1828800" y="3383280"/>
            <a:ext cx="1920240" cy="594360"/>
          </a:xfrm>
          <a:prstGeom prst="rect">
            <a:avLst/>
          </a:prstGeom>
          <a:noFill/>
          <a:ln/>
        </p:spPr>
        <p:txBody>
          <a:bodyPr wrap="square" rtlCol="0" anchor="ctr"/>
          <a:lstStyle/>
          <a:p>
            <a:pPr marL="0" indent="0" algn="ctr">
              <a:buNone/>
            </a:pPr>
            <a:r>
              <a:rPr lang="en-US" sz="1300" b="1" dirty="0">
                <a:solidFill>
                  <a:srgbClr val="1E4220"/>
                </a:solidFill>
                <a:latin typeface="맑은 고딕" pitchFamily="34" charset="0"/>
                <a:ea typeface="맑은 고딕" pitchFamily="34" charset="-122"/>
                <a:cs typeface="맑은 고딕" pitchFamily="34" charset="-120"/>
              </a:rPr>
              <a:t>잎: 소개팅 O</a:t>
            </a:r>
            <a:endParaRPr lang="en-US" sz="1300" dirty="0"/>
          </a:p>
        </p:txBody>
      </p:sp>
      <p:sp>
        <p:nvSpPr>
          <p:cNvPr id="16" name="Shape 14"/>
          <p:cNvSpPr/>
          <p:nvPr/>
        </p:nvSpPr>
        <p:spPr>
          <a:xfrm>
            <a:off x="7315200" y="3383280"/>
            <a:ext cx="2103120" cy="594360"/>
          </a:xfrm>
          <a:prstGeom prst="roundRect">
            <a:avLst>
              <a:gd name="adj" fmla="val 12308"/>
            </a:avLst>
          </a:prstGeom>
          <a:solidFill>
            <a:srgbClr val="2C5F2D"/>
          </a:solidFill>
          <a:ln w="12700">
            <a:solidFill>
              <a:srgbClr val="1E4220"/>
            </a:solidFill>
            <a:prstDash val="solid"/>
          </a:ln>
        </p:spPr>
        <p:txBody>
          <a:bodyPr/>
          <a:lstStyle/>
          <a:p>
            <a:endParaRPr lang="ko-KR" altLang="en-US"/>
          </a:p>
        </p:txBody>
      </p:sp>
      <p:sp>
        <p:nvSpPr>
          <p:cNvPr id="17" name="Text 15"/>
          <p:cNvSpPr/>
          <p:nvPr/>
        </p:nvSpPr>
        <p:spPr>
          <a:xfrm>
            <a:off x="7315200" y="3383280"/>
            <a:ext cx="2103120" cy="594360"/>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질문: 키 커?</a:t>
            </a:r>
            <a:endParaRPr lang="en-US" sz="1300" dirty="0"/>
          </a:p>
        </p:txBody>
      </p:sp>
      <p:sp>
        <p:nvSpPr>
          <p:cNvPr id="18" name="Shape 16"/>
          <p:cNvSpPr/>
          <p:nvPr/>
        </p:nvSpPr>
        <p:spPr>
          <a:xfrm>
            <a:off x="6126480" y="4709160"/>
            <a:ext cx="1828800" cy="594360"/>
          </a:xfrm>
          <a:prstGeom prst="roundRect">
            <a:avLst>
              <a:gd name="adj" fmla="val 12308"/>
            </a:avLst>
          </a:prstGeom>
          <a:solidFill>
            <a:srgbClr val="97BC62"/>
          </a:solidFill>
          <a:ln w="12700">
            <a:solidFill>
              <a:srgbClr val="1E4220"/>
            </a:solidFill>
            <a:prstDash val="solid"/>
          </a:ln>
        </p:spPr>
        <p:txBody>
          <a:bodyPr/>
          <a:lstStyle/>
          <a:p>
            <a:endParaRPr lang="ko-KR" altLang="en-US"/>
          </a:p>
        </p:txBody>
      </p:sp>
      <p:sp>
        <p:nvSpPr>
          <p:cNvPr id="19" name="Text 17"/>
          <p:cNvSpPr/>
          <p:nvPr/>
        </p:nvSpPr>
        <p:spPr>
          <a:xfrm>
            <a:off x="6126480" y="4709160"/>
            <a:ext cx="1828800" cy="594360"/>
          </a:xfrm>
          <a:prstGeom prst="rect">
            <a:avLst/>
          </a:prstGeom>
          <a:noFill/>
          <a:ln/>
        </p:spPr>
        <p:txBody>
          <a:bodyPr wrap="square" rtlCol="0" anchor="ctr"/>
          <a:lstStyle/>
          <a:p>
            <a:pPr marL="0" indent="0" algn="ctr">
              <a:buNone/>
            </a:pPr>
            <a:r>
              <a:rPr lang="en-US" sz="1300" b="1" dirty="0">
                <a:solidFill>
                  <a:srgbClr val="1E4220"/>
                </a:solidFill>
                <a:latin typeface="맑은 고딕" pitchFamily="34" charset="0"/>
                <a:ea typeface="맑은 고딕" pitchFamily="34" charset="-122"/>
                <a:cs typeface="맑은 고딕" pitchFamily="34" charset="-120"/>
              </a:rPr>
              <a:t>잎: 소개팅 O</a:t>
            </a:r>
            <a:endParaRPr lang="en-US" sz="1300" dirty="0"/>
          </a:p>
        </p:txBody>
      </p:sp>
      <p:sp>
        <p:nvSpPr>
          <p:cNvPr id="20" name="Shape 18"/>
          <p:cNvSpPr/>
          <p:nvPr/>
        </p:nvSpPr>
        <p:spPr>
          <a:xfrm>
            <a:off x="8595360" y="4709160"/>
            <a:ext cx="1828800" cy="594360"/>
          </a:xfrm>
          <a:prstGeom prst="roundRect">
            <a:avLst>
              <a:gd name="adj" fmla="val 12308"/>
            </a:avLst>
          </a:prstGeom>
          <a:solidFill>
            <a:srgbClr val="8C9A82"/>
          </a:solidFill>
          <a:ln w="12700">
            <a:solidFill>
              <a:srgbClr val="1E4220"/>
            </a:solidFill>
            <a:prstDash val="solid"/>
          </a:ln>
        </p:spPr>
        <p:txBody>
          <a:bodyPr/>
          <a:lstStyle/>
          <a:p>
            <a:endParaRPr lang="ko-KR" altLang="en-US"/>
          </a:p>
        </p:txBody>
      </p:sp>
      <p:sp>
        <p:nvSpPr>
          <p:cNvPr id="21" name="Text 19"/>
          <p:cNvSpPr/>
          <p:nvPr/>
        </p:nvSpPr>
        <p:spPr>
          <a:xfrm>
            <a:off x="8595360" y="4709160"/>
            <a:ext cx="1828800" cy="594360"/>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잎: 소개팅 X</a:t>
            </a:r>
            <a:endParaRPr lang="en-US" sz="1300" dirty="0"/>
          </a:p>
        </p:txBody>
      </p:sp>
      <p:sp>
        <p:nvSpPr>
          <p:cNvPr id="22" name="Text 20"/>
          <p:cNvSpPr/>
          <p:nvPr/>
        </p:nvSpPr>
        <p:spPr>
          <a:xfrm>
            <a:off x="548640" y="5852160"/>
            <a:ext cx="11091672" cy="457200"/>
          </a:xfrm>
          <a:prstGeom prst="rect">
            <a:avLst/>
          </a:prstGeom>
          <a:noFill/>
          <a:ln/>
        </p:spPr>
        <p:txBody>
          <a:bodyPr wrap="square" rtlCol="0" anchor="ctr"/>
          <a:lstStyle/>
          <a:p>
            <a:pPr marL="0" indent="0">
              <a:buNone/>
            </a:pPr>
            <a:r>
              <a:rPr lang="en-US" sz="1400" i="1" dirty="0">
                <a:solidFill>
                  <a:srgbClr val="27321F"/>
                </a:solidFill>
                <a:latin typeface="맑은 고딕" pitchFamily="34" charset="0"/>
                <a:ea typeface="맑은 고딕" pitchFamily="34" charset="-122"/>
                <a:cs typeface="맑은 고딕" pitchFamily="34" charset="-120"/>
              </a:rPr>
              <a:t>좋은 질문은 데이터를 한쪽 정답으로 확 쏠리게(순수하게) 나눕니다.</a:t>
            </a:r>
            <a:endParaRPr lang="en-US" sz="1400" dirty="0"/>
          </a:p>
        </p:txBody>
      </p:sp>
      <p:sp>
        <p:nvSpPr>
          <p:cNvPr id="23" name="Text 21"/>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개념</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불순도란 무엇인가 — 한 그룹이 얼마나 섞여 있는가</a:t>
            </a:r>
            <a:endParaRPr lang="en-US" sz="2700" dirty="0"/>
          </a:p>
        </p:txBody>
      </p:sp>
      <p:sp>
        <p:nvSpPr>
          <p:cNvPr id="4" name="Shape 2"/>
          <p:cNvSpPr/>
          <p:nvPr/>
        </p:nvSpPr>
        <p:spPr>
          <a:xfrm>
            <a:off x="699516" y="2148840"/>
            <a:ext cx="3291840" cy="3200400"/>
          </a:xfrm>
          <a:prstGeom prst="roundRect">
            <a:avLst>
              <a:gd name="adj" fmla="val 2857"/>
            </a:avLst>
          </a:prstGeom>
          <a:solidFill>
            <a:srgbClr val="E3EFD3"/>
          </a:solidFill>
          <a:ln/>
          <a:effectLst>
            <a:outerShdw blurRad="63500" dist="25400" dir="5400000" algn="bl" rotWithShape="0">
              <a:srgbClr val="3A3A3A">
                <a:alpha val="14000"/>
              </a:srgbClr>
            </a:outerShdw>
          </a:effectLst>
        </p:spPr>
        <p:txBody>
          <a:bodyPr/>
          <a:lstStyle/>
          <a:p>
            <a:endParaRPr lang="ko-KR" altLang="en-US"/>
          </a:p>
        </p:txBody>
      </p:sp>
      <p:sp>
        <p:nvSpPr>
          <p:cNvPr id="5" name="Text 3"/>
          <p:cNvSpPr/>
          <p:nvPr/>
        </p:nvSpPr>
        <p:spPr>
          <a:xfrm>
            <a:off x="699516" y="2377440"/>
            <a:ext cx="3291840" cy="457200"/>
          </a:xfrm>
          <a:prstGeom prst="rect">
            <a:avLst/>
          </a:prstGeom>
          <a:noFill/>
          <a:ln/>
        </p:spPr>
        <p:txBody>
          <a:bodyPr wrap="square" rtlCol="0" anchor="ctr"/>
          <a:lstStyle/>
          <a:p>
            <a:pPr marL="0" indent="0" algn="ctr">
              <a:buNone/>
            </a:pPr>
            <a:r>
              <a:rPr lang="en-US" sz="1400" b="1" dirty="0">
                <a:solidFill>
                  <a:srgbClr val="1E4220"/>
                </a:solidFill>
                <a:latin typeface="맑은 고딕" pitchFamily="34" charset="0"/>
                <a:ea typeface="맑은 고딕" pitchFamily="34" charset="-122"/>
                <a:cs typeface="맑은 고딕" pitchFamily="34" charset="-120"/>
              </a:rPr>
              <a:t>이탈 0명 / 유지 8명</a:t>
            </a:r>
            <a:endParaRPr lang="en-US" sz="1400" dirty="0"/>
          </a:p>
        </p:txBody>
      </p:sp>
      <p:sp>
        <p:nvSpPr>
          <p:cNvPr id="6" name="Shape 4"/>
          <p:cNvSpPr/>
          <p:nvPr/>
        </p:nvSpPr>
        <p:spPr>
          <a:xfrm>
            <a:off x="1357884" y="32004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7" name="Shape 5"/>
          <p:cNvSpPr/>
          <p:nvPr/>
        </p:nvSpPr>
        <p:spPr>
          <a:xfrm>
            <a:off x="1924812" y="32004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8" name="Shape 6"/>
          <p:cNvSpPr/>
          <p:nvPr/>
        </p:nvSpPr>
        <p:spPr>
          <a:xfrm>
            <a:off x="2491740" y="32004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9" name="Shape 7"/>
          <p:cNvSpPr/>
          <p:nvPr/>
        </p:nvSpPr>
        <p:spPr>
          <a:xfrm>
            <a:off x="3058668" y="32004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10" name="Shape 8"/>
          <p:cNvSpPr/>
          <p:nvPr/>
        </p:nvSpPr>
        <p:spPr>
          <a:xfrm>
            <a:off x="1357884" y="36576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11" name="Shape 9"/>
          <p:cNvSpPr/>
          <p:nvPr/>
        </p:nvSpPr>
        <p:spPr>
          <a:xfrm>
            <a:off x="1924812" y="36576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12" name="Shape 10"/>
          <p:cNvSpPr/>
          <p:nvPr/>
        </p:nvSpPr>
        <p:spPr>
          <a:xfrm>
            <a:off x="2491740" y="36576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13" name="Shape 11"/>
          <p:cNvSpPr/>
          <p:nvPr/>
        </p:nvSpPr>
        <p:spPr>
          <a:xfrm>
            <a:off x="3058668" y="36576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14" name="Text 12"/>
          <p:cNvSpPr/>
          <p:nvPr/>
        </p:nvSpPr>
        <p:spPr>
          <a:xfrm>
            <a:off x="699516" y="4480560"/>
            <a:ext cx="3291840" cy="640080"/>
          </a:xfrm>
          <a:prstGeom prst="rect">
            <a:avLst/>
          </a:prstGeom>
          <a:noFill/>
          <a:ln/>
        </p:spPr>
        <p:txBody>
          <a:bodyPr wrap="square" rtlCol="0" anchor="ctr"/>
          <a:lstStyle/>
          <a:p>
            <a:pPr marL="0" indent="0" algn="ctr">
              <a:buNone/>
            </a:pPr>
            <a:r>
              <a:rPr lang="en-US" sz="1300" i="1" dirty="0">
                <a:solidFill>
                  <a:srgbClr val="27321F"/>
                </a:solidFill>
                <a:latin typeface="맑은 고딕" pitchFamily="34" charset="0"/>
                <a:ea typeface="맑은 고딕" pitchFamily="34" charset="-122"/>
                <a:cs typeface="맑은 고딕" pitchFamily="34" charset="-120"/>
              </a:rPr>
              <a:t>완전히 순수</a:t>
            </a:r>
            <a:endParaRPr lang="en-US" sz="1300" dirty="0"/>
          </a:p>
        </p:txBody>
      </p:sp>
      <p:sp>
        <p:nvSpPr>
          <p:cNvPr id="15" name="Shape 13"/>
          <p:cNvSpPr/>
          <p:nvPr/>
        </p:nvSpPr>
        <p:spPr>
          <a:xfrm>
            <a:off x="4448556" y="2148840"/>
            <a:ext cx="3291840" cy="3200400"/>
          </a:xfrm>
          <a:prstGeom prst="roundRect">
            <a:avLst>
              <a:gd name="adj" fmla="val 2857"/>
            </a:avLst>
          </a:prstGeom>
          <a:solidFill>
            <a:srgbClr val="FBEBC8"/>
          </a:solidFill>
          <a:ln/>
          <a:effectLst>
            <a:outerShdw blurRad="63500" dist="25400" dir="5400000" algn="bl" rotWithShape="0">
              <a:srgbClr val="3A3A3A">
                <a:alpha val="14000"/>
              </a:srgbClr>
            </a:outerShdw>
          </a:effectLst>
        </p:spPr>
        <p:txBody>
          <a:bodyPr/>
          <a:lstStyle/>
          <a:p>
            <a:endParaRPr lang="ko-KR" altLang="en-US"/>
          </a:p>
        </p:txBody>
      </p:sp>
      <p:sp>
        <p:nvSpPr>
          <p:cNvPr id="16" name="Text 14"/>
          <p:cNvSpPr/>
          <p:nvPr/>
        </p:nvSpPr>
        <p:spPr>
          <a:xfrm>
            <a:off x="4448556" y="2377440"/>
            <a:ext cx="3291840" cy="457200"/>
          </a:xfrm>
          <a:prstGeom prst="rect">
            <a:avLst/>
          </a:prstGeom>
          <a:noFill/>
          <a:ln/>
        </p:spPr>
        <p:txBody>
          <a:bodyPr wrap="square" rtlCol="0" anchor="ctr"/>
          <a:lstStyle/>
          <a:p>
            <a:pPr marL="0" indent="0" algn="ctr">
              <a:buNone/>
            </a:pPr>
            <a:r>
              <a:rPr lang="en-US" sz="1400" b="1" dirty="0">
                <a:solidFill>
                  <a:srgbClr val="1E4220"/>
                </a:solidFill>
                <a:latin typeface="맑은 고딕" pitchFamily="34" charset="0"/>
                <a:ea typeface="맑은 고딕" pitchFamily="34" charset="-122"/>
                <a:cs typeface="맑은 고딕" pitchFamily="34" charset="-120"/>
              </a:rPr>
              <a:t>이탈 4명 / 유지 4명</a:t>
            </a:r>
            <a:endParaRPr lang="en-US" sz="1400" dirty="0"/>
          </a:p>
        </p:txBody>
      </p:sp>
      <p:sp>
        <p:nvSpPr>
          <p:cNvPr id="17" name="Shape 15"/>
          <p:cNvSpPr/>
          <p:nvPr/>
        </p:nvSpPr>
        <p:spPr>
          <a:xfrm>
            <a:off x="5106924" y="32004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18" name="Shape 16"/>
          <p:cNvSpPr/>
          <p:nvPr/>
        </p:nvSpPr>
        <p:spPr>
          <a:xfrm>
            <a:off x="5673852" y="32004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19" name="Shape 17"/>
          <p:cNvSpPr/>
          <p:nvPr/>
        </p:nvSpPr>
        <p:spPr>
          <a:xfrm>
            <a:off x="6240780" y="32004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20" name="Shape 18"/>
          <p:cNvSpPr/>
          <p:nvPr/>
        </p:nvSpPr>
        <p:spPr>
          <a:xfrm>
            <a:off x="6807708" y="32004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21" name="Shape 19"/>
          <p:cNvSpPr/>
          <p:nvPr/>
        </p:nvSpPr>
        <p:spPr>
          <a:xfrm>
            <a:off x="5106924" y="36576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22" name="Shape 20"/>
          <p:cNvSpPr/>
          <p:nvPr/>
        </p:nvSpPr>
        <p:spPr>
          <a:xfrm>
            <a:off x="5673852" y="36576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23" name="Shape 21"/>
          <p:cNvSpPr/>
          <p:nvPr/>
        </p:nvSpPr>
        <p:spPr>
          <a:xfrm>
            <a:off x="6240780" y="36576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24" name="Shape 22"/>
          <p:cNvSpPr/>
          <p:nvPr/>
        </p:nvSpPr>
        <p:spPr>
          <a:xfrm>
            <a:off x="6807708" y="3657600"/>
            <a:ext cx="274320" cy="274320"/>
          </a:xfrm>
          <a:prstGeom prst="ellipse">
            <a:avLst/>
          </a:prstGeom>
          <a:solidFill>
            <a:srgbClr val="97BC62"/>
          </a:solidFill>
          <a:ln w="12700">
            <a:solidFill>
              <a:srgbClr val="FFFFFF"/>
            </a:solidFill>
            <a:prstDash val="solid"/>
          </a:ln>
        </p:spPr>
        <p:txBody>
          <a:bodyPr/>
          <a:lstStyle/>
          <a:p>
            <a:endParaRPr lang="ko-KR" altLang="en-US"/>
          </a:p>
        </p:txBody>
      </p:sp>
      <p:sp>
        <p:nvSpPr>
          <p:cNvPr id="25" name="Text 23"/>
          <p:cNvSpPr/>
          <p:nvPr/>
        </p:nvSpPr>
        <p:spPr>
          <a:xfrm>
            <a:off x="4448556" y="4480560"/>
            <a:ext cx="3291840" cy="640080"/>
          </a:xfrm>
          <a:prstGeom prst="rect">
            <a:avLst/>
          </a:prstGeom>
          <a:noFill/>
          <a:ln/>
        </p:spPr>
        <p:txBody>
          <a:bodyPr wrap="square" rtlCol="0" anchor="ctr"/>
          <a:lstStyle/>
          <a:p>
            <a:pPr marL="0" indent="0" algn="ctr">
              <a:buNone/>
            </a:pPr>
            <a:r>
              <a:rPr lang="en-US" sz="1300" i="1" dirty="0">
                <a:solidFill>
                  <a:srgbClr val="27321F"/>
                </a:solidFill>
                <a:latin typeface="맑은 고딕" pitchFamily="34" charset="0"/>
                <a:ea typeface="맑은 고딕" pitchFamily="34" charset="-122"/>
                <a:cs typeface="맑은 고딕" pitchFamily="34" charset="-120"/>
              </a:rPr>
              <a:t>가장 불순 — 예측 불가</a:t>
            </a:r>
            <a:endParaRPr lang="en-US" sz="1300" dirty="0"/>
          </a:p>
        </p:txBody>
      </p:sp>
      <p:sp>
        <p:nvSpPr>
          <p:cNvPr id="26" name="Shape 24"/>
          <p:cNvSpPr/>
          <p:nvPr/>
        </p:nvSpPr>
        <p:spPr>
          <a:xfrm>
            <a:off x="8197596" y="2148840"/>
            <a:ext cx="3291840" cy="3200400"/>
          </a:xfrm>
          <a:prstGeom prst="roundRect">
            <a:avLst>
              <a:gd name="adj" fmla="val 2857"/>
            </a:avLst>
          </a:prstGeom>
          <a:solidFill>
            <a:srgbClr val="E3EFD3"/>
          </a:solidFill>
          <a:ln/>
          <a:effectLst>
            <a:outerShdw blurRad="63500" dist="25400" dir="5400000" algn="bl" rotWithShape="0">
              <a:srgbClr val="3A3A3A">
                <a:alpha val="14000"/>
              </a:srgbClr>
            </a:outerShdw>
          </a:effectLst>
        </p:spPr>
        <p:txBody>
          <a:bodyPr/>
          <a:lstStyle/>
          <a:p>
            <a:endParaRPr lang="ko-KR" altLang="en-US"/>
          </a:p>
        </p:txBody>
      </p:sp>
      <p:sp>
        <p:nvSpPr>
          <p:cNvPr id="27" name="Text 25"/>
          <p:cNvSpPr/>
          <p:nvPr/>
        </p:nvSpPr>
        <p:spPr>
          <a:xfrm>
            <a:off x="8197596" y="2377440"/>
            <a:ext cx="3291840" cy="457200"/>
          </a:xfrm>
          <a:prstGeom prst="rect">
            <a:avLst/>
          </a:prstGeom>
          <a:noFill/>
          <a:ln/>
        </p:spPr>
        <p:txBody>
          <a:bodyPr wrap="square" rtlCol="0" anchor="ctr"/>
          <a:lstStyle/>
          <a:p>
            <a:pPr marL="0" indent="0" algn="ctr">
              <a:buNone/>
            </a:pPr>
            <a:r>
              <a:rPr lang="en-US" sz="1400" b="1" dirty="0">
                <a:solidFill>
                  <a:srgbClr val="1E4220"/>
                </a:solidFill>
                <a:latin typeface="맑은 고딕" pitchFamily="34" charset="0"/>
                <a:ea typeface="맑은 고딕" pitchFamily="34" charset="-122"/>
                <a:cs typeface="맑은 고딕" pitchFamily="34" charset="-120"/>
              </a:rPr>
              <a:t>이탈 8명 / 유지 0명</a:t>
            </a:r>
            <a:endParaRPr lang="en-US" sz="1400" dirty="0"/>
          </a:p>
        </p:txBody>
      </p:sp>
      <p:sp>
        <p:nvSpPr>
          <p:cNvPr id="28" name="Shape 26"/>
          <p:cNvSpPr/>
          <p:nvPr/>
        </p:nvSpPr>
        <p:spPr>
          <a:xfrm>
            <a:off x="8855964" y="32004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29" name="Shape 27"/>
          <p:cNvSpPr/>
          <p:nvPr/>
        </p:nvSpPr>
        <p:spPr>
          <a:xfrm>
            <a:off x="9422892" y="32004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30" name="Shape 28"/>
          <p:cNvSpPr/>
          <p:nvPr/>
        </p:nvSpPr>
        <p:spPr>
          <a:xfrm>
            <a:off x="9989820" y="32004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31" name="Shape 29"/>
          <p:cNvSpPr/>
          <p:nvPr/>
        </p:nvSpPr>
        <p:spPr>
          <a:xfrm>
            <a:off x="10556748" y="32004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32" name="Shape 30"/>
          <p:cNvSpPr/>
          <p:nvPr/>
        </p:nvSpPr>
        <p:spPr>
          <a:xfrm>
            <a:off x="8855964" y="36576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33" name="Shape 31"/>
          <p:cNvSpPr/>
          <p:nvPr/>
        </p:nvSpPr>
        <p:spPr>
          <a:xfrm>
            <a:off x="9422892" y="36576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34" name="Shape 32"/>
          <p:cNvSpPr/>
          <p:nvPr/>
        </p:nvSpPr>
        <p:spPr>
          <a:xfrm>
            <a:off x="9989820" y="36576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35" name="Shape 33"/>
          <p:cNvSpPr/>
          <p:nvPr/>
        </p:nvSpPr>
        <p:spPr>
          <a:xfrm>
            <a:off x="10556748" y="3657600"/>
            <a:ext cx="274320" cy="274320"/>
          </a:xfrm>
          <a:prstGeom prst="ellipse">
            <a:avLst/>
          </a:prstGeom>
          <a:solidFill>
            <a:srgbClr val="B8841E"/>
          </a:solidFill>
          <a:ln w="12700">
            <a:solidFill>
              <a:srgbClr val="FFFFFF"/>
            </a:solidFill>
            <a:prstDash val="solid"/>
          </a:ln>
        </p:spPr>
        <p:txBody>
          <a:bodyPr/>
          <a:lstStyle/>
          <a:p>
            <a:endParaRPr lang="ko-KR" altLang="en-US"/>
          </a:p>
        </p:txBody>
      </p:sp>
      <p:sp>
        <p:nvSpPr>
          <p:cNvPr id="36" name="Text 34"/>
          <p:cNvSpPr/>
          <p:nvPr/>
        </p:nvSpPr>
        <p:spPr>
          <a:xfrm>
            <a:off x="8197596" y="4480560"/>
            <a:ext cx="3291840" cy="640080"/>
          </a:xfrm>
          <a:prstGeom prst="rect">
            <a:avLst/>
          </a:prstGeom>
          <a:noFill/>
          <a:ln/>
        </p:spPr>
        <p:txBody>
          <a:bodyPr wrap="square" rtlCol="0" anchor="ctr"/>
          <a:lstStyle/>
          <a:p>
            <a:pPr marL="0" indent="0" algn="ctr">
              <a:buNone/>
            </a:pPr>
            <a:r>
              <a:rPr lang="en-US" sz="1300" i="1" dirty="0">
                <a:solidFill>
                  <a:srgbClr val="27321F"/>
                </a:solidFill>
                <a:latin typeface="맑은 고딕" pitchFamily="34" charset="0"/>
                <a:ea typeface="맑은 고딕" pitchFamily="34" charset="-122"/>
                <a:cs typeface="맑은 고딕" pitchFamily="34" charset="-120"/>
              </a:rPr>
              <a:t>완전히 순수</a:t>
            </a:r>
            <a:endParaRPr lang="en-US" sz="1300" dirty="0"/>
          </a:p>
        </p:txBody>
      </p:sp>
      <p:sp>
        <p:nvSpPr>
          <p:cNvPr id="37" name="Text 35"/>
          <p:cNvSpPr/>
          <p:nvPr/>
        </p:nvSpPr>
        <p:spPr>
          <a:xfrm>
            <a:off x="548640" y="5806440"/>
            <a:ext cx="11091672" cy="548640"/>
          </a:xfrm>
          <a:prstGeom prst="rect">
            <a:avLst/>
          </a:prstGeom>
          <a:noFill/>
          <a:ln/>
        </p:spPr>
        <p:txBody>
          <a:bodyPr wrap="square" rtlCol="0" anchor="ctr"/>
          <a:lstStyle/>
          <a:p>
            <a:pPr marL="0" indent="0" algn="ctr">
              <a:buNone/>
            </a:pPr>
            <a:r>
              <a:rPr lang="en-US" sz="1400" dirty="0">
                <a:solidFill>
                  <a:srgbClr val="27321F"/>
                </a:solidFill>
                <a:latin typeface="맑은 고딕" pitchFamily="34" charset="0"/>
                <a:ea typeface="맑은 고딕" pitchFamily="34" charset="-122"/>
                <a:cs typeface="맑은 고딕" pitchFamily="34" charset="-120"/>
              </a:rPr>
              <a:t>불순도는 '이 그룹 안에 정답이 얼마나 뒤섞여 있는가'를 재는 개념입니다 — 다음 슬라이드부터 이걸 실제 숫자(지니 계수)로 계산해봅니다.</a:t>
            </a:r>
            <a:endParaRPr lang="en-US" sz="1400" dirty="0"/>
          </a:p>
        </p:txBody>
      </p:sp>
      <p:sp>
        <p:nvSpPr>
          <p:cNvPr id="38" name="Text 36"/>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메커니즘</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트리는 질문을 어떻게 고를까 — 분할변수 &amp; 분할점</a:t>
            </a:r>
            <a:endParaRPr lang="en-US" sz="2700" dirty="0"/>
          </a:p>
        </p:txBody>
      </p:sp>
      <p:sp>
        <p:nvSpPr>
          <p:cNvPr id="4" name="Text 2"/>
          <p:cNvSpPr/>
          <p:nvPr/>
        </p:nvSpPr>
        <p:spPr>
          <a:xfrm>
            <a:off x="548640" y="1691640"/>
            <a:ext cx="11091672" cy="365760"/>
          </a:xfrm>
          <a:prstGeom prst="rect">
            <a:avLst/>
          </a:prstGeom>
          <a:noFill/>
          <a:ln/>
        </p:spPr>
        <p:txBody>
          <a:bodyPr wrap="square" rtlCol="0" anchor="ctr"/>
          <a:lstStyle/>
          <a:p>
            <a:pPr marL="0" indent="0">
              <a:buNone/>
            </a:pPr>
            <a:r>
              <a:rPr lang="en-US" sz="1600" dirty="0">
                <a:solidFill>
                  <a:srgbClr val="27321F"/>
                </a:solidFill>
                <a:latin typeface="맑은 고딕" pitchFamily="34" charset="0"/>
                <a:ea typeface="맑은 고딕" pitchFamily="34" charset="-122"/>
                <a:cs typeface="맑은 고딕" pitchFamily="34" charset="-120"/>
              </a:rPr>
              <a:t>질문(분기) 하나 = </a:t>
            </a:r>
            <a:r>
              <a:rPr lang="en-US" sz="1600" b="1" dirty="0">
                <a:solidFill>
                  <a:srgbClr val="2C5F2D"/>
                </a:solidFill>
                <a:latin typeface="맑은 고딕" pitchFamily="34" charset="0"/>
                <a:ea typeface="맑은 고딕" pitchFamily="34" charset="-122"/>
                <a:cs typeface="맑은 고딕" pitchFamily="34" charset="-120"/>
              </a:rPr>
              <a:t>분할변수 j</a:t>
            </a:r>
            <a:r>
              <a:rPr lang="en-US" sz="1600" dirty="0">
                <a:solidFill>
                  <a:srgbClr val="27321F"/>
                </a:solidFill>
                <a:latin typeface="맑은 고딕" pitchFamily="34" charset="0"/>
                <a:ea typeface="맑은 고딕" pitchFamily="34" charset="-122"/>
                <a:cs typeface="맑은 고딕" pitchFamily="34" charset="-120"/>
              </a:rPr>
              <a:t>(어떤 피처를 볼지) + </a:t>
            </a:r>
            <a:r>
              <a:rPr lang="en-US" sz="1600" b="1" dirty="0">
                <a:solidFill>
                  <a:srgbClr val="B8841E"/>
                </a:solidFill>
                <a:latin typeface="맑은 고딕" pitchFamily="34" charset="0"/>
                <a:ea typeface="맑은 고딕" pitchFamily="34" charset="-122"/>
                <a:cs typeface="맑은 고딕" pitchFamily="34" charset="-120"/>
              </a:rPr>
              <a:t>분할점 s</a:t>
            </a:r>
            <a:r>
              <a:rPr lang="en-US" sz="1600" dirty="0">
                <a:solidFill>
                  <a:srgbClr val="27321F"/>
                </a:solidFill>
                <a:latin typeface="맑은 고딕" pitchFamily="34" charset="0"/>
                <a:ea typeface="맑은 고딕" pitchFamily="34" charset="-122"/>
                <a:cs typeface="맑은 고딕" pitchFamily="34" charset="-120"/>
              </a:rPr>
              <a:t>(그 피처를 어떤 값으로 자를지)</a:t>
            </a:r>
            <a:endParaRPr lang="en-US" sz="1600" dirty="0"/>
          </a:p>
        </p:txBody>
      </p:sp>
      <p:sp>
        <p:nvSpPr>
          <p:cNvPr id="5" name="Text 3"/>
          <p:cNvSpPr/>
          <p:nvPr/>
        </p:nvSpPr>
        <p:spPr>
          <a:xfrm>
            <a:off x="548640" y="2103120"/>
            <a:ext cx="11091672" cy="365760"/>
          </a:xfrm>
          <a:prstGeom prst="rect">
            <a:avLst/>
          </a:prstGeom>
          <a:noFill/>
          <a:ln/>
        </p:spPr>
        <p:txBody>
          <a:bodyPr wrap="square" rtlCol="0" anchor="ctr"/>
          <a:lstStyle/>
          <a:p>
            <a:pPr marL="0" indent="0">
              <a:buNone/>
            </a:pPr>
            <a:r>
              <a:rPr lang="en-US" sz="1500" i="1" dirty="0">
                <a:solidFill>
                  <a:srgbClr val="5A6B4E"/>
                </a:solidFill>
                <a:latin typeface="맑은 고딕" pitchFamily="34" charset="0"/>
                <a:ea typeface="맑은 고딕" pitchFamily="34" charset="-122"/>
                <a:cs typeface="맑은 고딕" pitchFamily="34" charset="-120"/>
              </a:rPr>
              <a:t>R₁(j,s) = {x | xⱼ ≤ s}        R₂(j,s) = {x | xⱼ &gt; s}</a:t>
            </a:r>
            <a:endParaRPr lang="en-US" sz="1500" dirty="0"/>
          </a:p>
        </p:txBody>
      </p:sp>
      <p:sp>
        <p:nvSpPr>
          <p:cNvPr id="6" name="Shape 4"/>
          <p:cNvSpPr/>
          <p:nvPr/>
        </p:nvSpPr>
        <p:spPr>
          <a:xfrm>
            <a:off x="548640" y="2697480"/>
            <a:ext cx="1463040" cy="384048"/>
          </a:xfrm>
          <a:prstGeom prst="rect">
            <a:avLst/>
          </a:prstGeom>
          <a:solidFill>
            <a:srgbClr val="2C5F2D"/>
          </a:solidFill>
          <a:ln w="6350">
            <a:solidFill>
              <a:srgbClr val="FFFFFF"/>
            </a:solidFill>
            <a:prstDash val="solid"/>
          </a:ln>
        </p:spPr>
        <p:txBody>
          <a:bodyPr/>
          <a:lstStyle/>
          <a:p>
            <a:endParaRPr lang="ko-KR" altLang="en-US"/>
          </a:p>
        </p:txBody>
      </p:sp>
      <p:sp>
        <p:nvSpPr>
          <p:cNvPr id="7" name="Text 5"/>
          <p:cNvSpPr/>
          <p:nvPr/>
        </p:nvSpPr>
        <p:spPr>
          <a:xfrm>
            <a:off x="548640" y="2697480"/>
            <a:ext cx="1463040" cy="384048"/>
          </a:xfrm>
          <a:prstGeom prst="rect">
            <a:avLst/>
          </a:prstGeom>
          <a:noFill/>
          <a:ln/>
        </p:spPr>
        <p:txBody>
          <a:bodyPr wrap="square"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공부시간(x1)</a:t>
            </a:r>
            <a:endParaRPr lang="en-US" sz="1150" dirty="0"/>
          </a:p>
        </p:txBody>
      </p:sp>
      <p:sp>
        <p:nvSpPr>
          <p:cNvPr id="8" name="Shape 6"/>
          <p:cNvSpPr/>
          <p:nvPr/>
        </p:nvSpPr>
        <p:spPr>
          <a:xfrm>
            <a:off x="2011680" y="2697480"/>
            <a:ext cx="1463040" cy="384048"/>
          </a:xfrm>
          <a:prstGeom prst="rect">
            <a:avLst/>
          </a:prstGeom>
          <a:solidFill>
            <a:srgbClr val="2C5F2D"/>
          </a:solidFill>
          <a:ln w="6350">
            <a:solidFill>
              <a:srgbClr val="FFFFFF"/>
            </a:solidFill>
            <a:prstDash val="solid"/>
          </a:ln>
        </p:spPr>
        <p:txBody>
          <a:bodyPr/>
          <a:lstStyle/>
          <a:p>
            <a:endParaRPr lang="ko-KR" altLang="en-US"/>
          </a:p>
        </p:txBody>
      </p:sp>
      <p:sp>
        <p:nvSpPr>
          <p:cNvPr id="9" name="Text 7"/>
          <p:cNvSpPr/>
          <p:nvPr/>
        </p:nvSpPr>
        <p:spPr>
          <a:xfrm>
            <a:off x="2011680" y="2697480"/>
            <a:ext cx="1463040" cy="384048"/>
          </a:xfrm>
          <a:prstGeom prst="rect">
            <a:avLst/>
          </a:prstGeom>
          <a:noFill/>
          <a:ln/>
        </p:spPr>
        <p:txBody>
          <a:bodyPr wrap="square"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시험성적(x2)</a:t>
            </a:r>
            <a:endParaRPr lang="en-US" sz="1150" dirty="0"/>
          </a:p>
        </p:txBody>
      </p:sp>
      <p:sp>
        <p:nvSpPr>
          <p:cNvPr id="10" name="Shape 8"/>
          <p:cNvSpPr/>
          <p:nvPr/>
        </p:nvSpPr>
        <p:spPr>
          <a:xfrm>
            <a:off x="3474720" y="2697480"/>
            <a:ext cx="1463040" cy="384048"/>
          </a:xfrm>
          <a:prstGeom prst="rect">
            <a:avLst/>
          </a:prstGeom>
          <a:solidFill>
            <a:srgbClr val="2C5F2D"/>
          </a:solidFill>
          <a:ln w="6350">
            <a:solidFill>
              <a:srgbClr val="FFFFFF"/>
            </a:solidFill>
            <a:prstDash val="solid"/>
          </a:ln>
        </p:spPr>
        <p:txBody>
          <a:bodyPr/>
          <a:lstStyle/>
          <a:p>
            <a:endParaRPr lang="ko-KR" altLang="en-US"/>
          </a:p>
        </p:txBody>
      </p:sp>
      <p:sp>
        <p:nvSpPr>
          <p:cNvPr id="11" name="Text 9"/>
          <p:cNvSpPr/>
          <p:nvPr/>
        </p:nvSpPr>
        <p:spPr>
          <a:xfrm>
            <a:off x="3474720" y="2697480"/>
            <a:ext cx="1463040" cy="384048"/>
          </a:xfrm>
          <a:prstGeom prst="rect">
            <a:avLst/>
          </a:prstGeom>
          <a:noFill/>
          <a:ln/>
        </p:spPr>
        <p:txBody>
          <a:bodyPr wrap="square"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합격여부</a:t>
            </a:r>
            <a:endParaRPr lang="en-US" sz="1150" dirty="0"/>
          </a:p>
        </p:txBody>
      </p:sp>
      <p:sp>
        <p:nvSpPr>
          <p:cNvPr id="12" name="Shape 10"/>
          <p:cNvSpPr/>
          <p:nvPr/>
        </p:nvSpPr>
        <p:spPr>
          <a:xfrm>
            <a:off x="548640" y="3081528"/>
            <a:ext cx="1463040" cy="384048"/>
          </a:xfrm>
          <a:prstGeom prst="rect">
            <a:avLst/>
          </a:prstGeom>
          <a:solidFill>
            <a:srgbClr val="F6F8F4"/>
          </a:solidFill>
          <a:ln w="6350">
            <a:solidFill>
              <a:srgbClr val="D8DED2"/>
            </a:solidFill>
            <a:prstDash val="solid"/>
          </a:ln>
        </p:spPr>
        <p:txBody>
          <a:bodyPr/>
          <a:lstStyle/>
          <a:p>
            <a:endParaRPr lang="ko-KR" altLang="en-US"/>
          </a:p>
        </p:txBody>
      </p:sp>
      <p:sp>
        <p:nvSpPr>
          <p:cNvPr id="13" name="Text 11"/>
          <p:cNvSpPr/>
          <p:nvPr/>
        </p:nvSpPr>
        <p:spPr>
          <a:xfrm>
            <a:off x="548640" y="3081528"/>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1</a:t>
            </a:r>
            <a:endParaRPr lang="en-US" sz="1200" dirty="0"/>
          </a:p>
        </p:txBody>
      </p:sp>
      <p:sp>
        <p:nvSpPr>
          <p:cNvPr id="14" name="Shape 12"/>
          <p:cNvSpPr/>
          <p:nvPr/>
        </p:nvSpPr>
        <p:spPr>
          <a:xfrm>
            <a:off x="2011680" y="3081528"/>
            <a:ext cx="1463040" cy="384048"/>
          </a:xfrm>
          <a:prstGeom prst="rect">
            <a:avLst/>
          </a:prstGeom>
          <a:solidFill>
            <a:srgbClr val="F6F8F4"/>
          </a:solidFill>
          <a:ln w="6350">
            <a:solidFill>
              <a:srgbClr val="D8DED2"/>
            </a:solidFill>
            <a:prstDash val="solid"/>
          </a:ln>
        </p:spPr>
        <p:txBody>
          <a:bodyPr/>
          <a:lstStyle/>
          <a:p>
            <a:endParaRPr lang="ko-KR" altLang="en-US"/>
          </a:p>
        </p:txBody>
      </p:sp>
      <p:sp>
        <p:nvSpPr>
          <p:cNvPr id="15" name="Text 13"/>
          <p:cNvSpPr/>
          <p:nvPr/>
        </p:nvSpPr>
        <p:spPr>
          <a:xfrm>
            <a:off x="2011680" y="3081528"/>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50</a:t>
            </a:r>
            <a:endParaRPr lang="en-US" sz="1200" dirty="0"/>
          </a:p>
        </p:txBody>
      </p:sp>
      <p:sp>
        <p:nvSpPr>
          <p:cNvPr id="16" name="Shape 14"/>
          <p:cNvSpPr/>
          <p:nvPr/>
        </p:nvSpPr>
        <p:spPr>
          <a:xfrm>
            <a:off x="3474720" y="3081528"/>
            <a:ext cx="1463040" cy="384048"/>
          </a:xfrm>
          <a:prstGeom prst="rect">
            <a:avLst/>
          </a:prstGeom>
          <a:solidFill>
            <a:srgbClr val="F6F8F4"/>
          </a:solidFill>
          <a:ln w="6350">
            <a:solidFill>
              <a:srgbClr val="D8DED2"/>
            </a:solidFill>
            <a:prstDash val="solid"/>
          </a:ln>
        </p:spPr>
        <p:txBody>
          <a:bodyPr/>
          <a:lstStyle/>
          <a:p>
            <a:endParaRPr lang="ko-KR" altLang="en-US"/>
          </a:p>
        </p:txBody>
      </p:sp>
      <p:sp>
        <p:nvSpPr>
          <p:cNvPr id="17" name="Text 15"/>
          <p:cNvSpPr/>
          <p:nvPr/>
        </p:nvSpPr>
        <p:spPr>
          <a:xfrm>
            <a:off x="3474720" y="3081528"/>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0</a:t>
            </a:r>
            <a:endParaRPr lang="en-US" sz="1200" dirty="0"/>
          </a:p>
        </p:txBody>
      </p:sp>
      <p:sp>
        <p:nvSpPr>
          <p:cNvPr id="18" name="Shape 16"/>
          <p:cNvSpPr/>
          <p:nvPr/>
        </p:nvSpPr>
        <p:spPr>
          <a:xfrm>
            <a:off x="548640" y="3465576"/>
            <a:ext cx="1463040" cy="384048"/>
          </a:xfrm>
          <a:prstGeom prst="rect">
            <a:avLst/>
          </a:prstGeom>
          <a:solidFill>
            <a:srgbClr val="FFFFFF"/>
          </a:solidFill>
          <a:ln w="6350">
            <a:solidFill>
              <a:srgbClr val="D8DED2"/>
            </a:solidFill>
            <a:prstDash val="solid"/>
          </a:ln>
        </p:spPr>
        <p:txBody>
          <a:bodyPr/>
          <a:lstStyle/>
          <a:p>
            <a:endParaRPr lang="ko-KR" altLang="en-US"/>
          </a:p>
        </p:txBody>
      </p:sp>
      <p:sp>
        <p:nvSpPr>
          <p:cNvPr id="19" name="Text 17"/>
          <p:cNvSpPr/>
          <p:nvPr/>
        </p:nvSpPr>
        <p:spPr>
          <a:xfrm>
            <a:off x="548640" y="3465576"/>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2</a:t>
            </a:r>
            <a:endParaRPr lang="en-US" sz="1200" dirty="0"/>
          </a:p>
        </p:txBody>
      </p:sp>
      <p:sp>
        <p:nvSpPr>
          <p:cNvPr id="20" name="Shape 18"/>
          <p:cNvSpPr/>
          <p:nvPr/>
        </p:nvSpPr>
        <p:spPr>
          <a:xfrm>
            <a:off x="2011680" y="3465576"/>
            <a:ext cx="1463040" cy="384048"/>
          </a:xfrm>
          <a:prstGeom prst="rect">
            <a:avLst/>
          </a:prstGeom>
          <a:solidFill>
            <a:srgbClr val="FFFFFF"/>
          </a:solidFill>
          <a:ln w="6350">
            <a:solidFill>
              <a:srgbClr val="D8DED2"/>
            </a:solidFill>
            <a:prstDash val="solid"/>
          </a:ln>
        </p:spPr>
        <p:txBody>
          <a:bodyPr/>
          <a:lstStyle/>
          <a:p>
            <a:endParaRPr lang="ko-KR" altLang="en-US"/>
          </a:p>
        </p:txBody>
      </p:sp>
      <p:sp>
        <p:nvSpPr>
          <p:cNvPr id="21" name="Text 19"/>
          <p:cNvSpPr/>
          <p:nvPr/>
        </p:nvSpPr>
        <p:spPr>
          <a:xfrm>
            <a:off x="2011680" y="3465576"/>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60</a:t>
            </a:r>
            <a:endParaRPr lang="en-US" sz="1200" dirty="0"/>
          </a:p>
        </p:txBody>
      </p:sp>
      <p:sp>
        <p:nvSpPr>
          <p:cNvPr id="22" name="Shape 20"/>
          <p:cNvSpPr/>
          <p:nvPr/>
        </p:nvSpPr>
        <p:spPr>
          <a:xfrm>
            <a:off x="3474720" y="3465576"/>
            <a:ext cx="1463040" cy="384048"/>
          </a:xfrm>
          <a:prstGeom prst="rect">
            <a:avLst/>
          </a:prstGeom>
          <a:solidFill>
            <a:srgbClr val="FFFFFF"/>
          </a:solidFill>
          <a:ln w="6350">
            <a:solidFill>
              <a:srgbClr val="D8DED2"/>
            </a:solidFill>
            <a:prstDash val="solid"/>
          </a:ln>
        </p:spPr>
        <p:txBody>
          <a:bodyPr/>
          <a:lstStyle/>
          <a:p>
            <a:endParaRPr lang="ko-KR" altLang="en-US"/>
          </a:p>
        </p:txBody>
      </p:sp>
      <p:sp>
        <p:nvSpPr>
          <p:cNvPr id="23" name="Text 21"/>
          <p:cNvSpPr/>
          <p:nvPr/>
        </p:nvSpPr>
        <p:spPr>
          <a:xfrm>
            <a:off x="3474720" y="3465576"/>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0</a:t>
            </a:r>
            <a:endParaRPr lang="en-US" sz="1200" dirty="0"/>
          </a:p>
        </p:txBody>
      </p:sp>
      <p:sp>
        <p:nvSpPr>
          <p:cNvPr id="24" name="Shape 22"/>
          <p:cNvSpPr/>
          <p:nvPr/>
        </p:nvSpPr>
        <p:spPr>
          <a:xfrm>
            <a:off x="548640" y="3849624"/>
            <a:ext cx="1463040" cy="384048"/>
          </a:xfrm>
          <a:prstGeom prst="rect">
            <a:avLst/>
          </a:prstGeom>
          <a:solidFill>
            <a:srgbClr val="F6F8F4"/>
          </a:solidFill>
          <a:ln w="6350">
            <a:solidFill>
              <a:srgbClr val="D8DED2"/>
            </a:solidFill>
            <a:prstDash val="solid"/>
          </a:ln>
        </p:spPr>
        <p:txBody>
          <a:bodyPr/>
          <a:lstStyle/>
          <a:p>
            <a:endParaRPr lang="ko-KR" altLang="en-US"/>
          </a:p>
        </p:txBody>
      </p:sp>
      <p:sp>
        <p:nvSpPr>
          <p:cNvPr id="25" name="Text 23"/>
          <p:cNvSpPr/>
          <p:nvPr/>
        </p:nvSpPr>
        <p:spPr>
          <a:xfrm>
            <a:off x="548640" y="3849624"/>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3</a:t>
            </a:r>
            <a:endParaRPr lang="en-US" sz="1200" dirty="0"/>
          </a:p>
        </p:txBody>
      </p:sp>
      <p:sp>
        <p:nvSpPr>
          <p:cNvPr id="26" name="Shape 24"/>
          <p:cNvSpPr/>
          <p:nvPr/>
        </p:nvSpPr>
        <p:spPr>
          <a:xfrm>
            <a:off x="2011680" y="3849624"/>
            <a:ext cx="1463040" cy="384048"/>
          </a:xfrm>
          <a:prstGeom prst="rect">
            <a:avLst/>
          </a:prstGeom>
          <a:solidFill>
            <a:srgbClr val="F6F8F4"/>
          </a:solidFill>
          <a:ln w="6350">
            <a:solidFill>
              <a:srgbClr val="D8DED2"/>
            </a:solidFill>
            <a:prstDash val="solid"/>
          </a:ln>
        </p:spPr>
        <p:txBody>
          <a:bodyPr/>
          <a:lstStyle/>
          <a:p>
            <a:endParaRPr lang="ko-KR" altLang="en-US"/>
          </a:p>
        </p:txBody>
      </p:sp>
      <p:sp>
        <p:nvSpPr>
          <p:cNvPr id="27" name="Text 25"/>
          <p:cNvSpPr/>
          <p:nvPr/>
        </p:nvSpPr>
        <p:spPr>
          <a:xfrm>
            <a:off x="2011680" y="3849624"/>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70</a:t>
            </a:r>
            <a:endParaRPr lang="en-US" sz="1200" dirty="0"/>
          </a:p>
        </p:txBody>
      </p:sp>
      <p:sp>
        <p:nvSpPr>
          <p:cNvPr id="28" name="Shape 26"/>
          <p:cNvSpPr/>
          <p:nvPr/>
        </p:nvSpPr>
        <p:spPr>
          <a:xfrm>
            <a:off x="3474720" y="3849624"/>
            <a:ext cx="1463040" cy="384048"/>
          </a:xfrm>
          <a:prstGeom prst="rect">
            <a:avLst/>
          </a:prstGeom>
          <a:solidFill>
            <a:srgbClr val="F6F8F4"/>
          </a:solidFill>
          <a:ln w="6350">
            <a:solidFill>
              <a:srgbClr val="D8DED2"/>
            </a:solidFill>
            <a:prstDash val="solid"/>
          </a:ln>
        </p:spPr>
        <p:txBody>
          <a:bodyPr/>
          <a:lstStyle/>
          <a:p>
            <a:endParaRPr lang="ko-KR" altLang="en-US"/>
          </a:p>
        </p:txBody>
      </p:sp>
      <p:sp>
        <p:nvSpPr>
          <p:cNvPr id="29" name="Text 27"/>
          <p:cNvSpPr/>
          <p:nvPr/>
        </p:nvSpPr>
        <p:spPr>
          <a:xfrm>
            <a:off x="3474720" y="3849624"/>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1</a:t>
            </a:r>
            <a:endParaRPr lang="en-US" sz="1200" dirty="0"/>
          </a:p>
        </p:txBody>
      </p:sp>
      <p:sp>
        <p:nvSpPr>
          <p:cNvPr id="30" name="Shape 28"/>
          <p:cNvSpPr/>
          <p:nvPr/>
        </p:nvSpPr>
        <p:spPr>
          <a:xfrm>
            <a:off x="548640" y="4233672"/>
            <a:ext cx="1463040" cy="384048"/>
          </a:xfrm>
          <a:prstGeom prst="rect">
            <a:avLst/>
          </a:prstGeom>
          <a:solidFill>
            <a:srgbClr val="FFFFFF"/>
          </a:solidFill>
          <a:ln w="6350">
            <a:solidFill>
              <a:srgbClr val="D8DED2"/>
            </a:solidFill>
            <a:prstDash val="solid"/>
          </a:ln>
        </p:spPr>
        <p:txBody>
          <a:bodyPr/>
          <a:lstStyle/>
          <a:p>
            <a:endParaRPr lang="ko-KR" altLang="en-US"/>
          </a:p>
        </p:txBody>
      </p:sp>
      <p:sp>
        <p:nvSpPr>
          <p:cNvPr id="31" name="Text 29"/>
          <p:cNvSpPr/>
          <p:nvPr/>
        </p:nvSpPr>
        <p:spPr>
          <a:xfrm>
            <a:off x="548640" y="4233672"/>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4</a:t>
            </a:r>
            <a:endParaRPr lang="en-US" sz="1200" dirty="0"/>
          </a:p>
        </p:txBody>
      </p:sp>
      <p:sp>
        <p:nvSpPr>
          <p:cNvPr id="32" name="Shape 30"/>
          <p:cNvSpPr/>
          <p:nvPr/>
        </p:nvSpPr>
        <p:spPr>
          <a:xfrm>
            <a:off x="2011680" y="4233672"/>
            <a:ext cx="1463040" cy="384048"/>
          </a:xfrm>
          <a:prstGeom prst="rect">
            <a:avLst/>
          </a:prstGeom>
          <a:solidFill>
            <a:srgbClr val="FFFFFF"/>
          </a:solidFill>
          <a:ln w="6350">
            <a:solidFill>
              <a:srgbClr val="D8DED2"/>
            </a:solidFill>
            <a:prstDash val="solid"/>
          </a:ln>
        </p:spPr>
        <p:txBody>
          <a:bodyPr/>
          <a:lstStyle/>
          <a:p>
            <a:endParaRPr lang="ko-KR" altLang="en-US"/>
          </a:p>
        </p:txBody>
      </p:sp>
      <p:sp>
        <p:nvSpPr>
          <p:cNvPr id="33" name="Text 31"/>
          <p:cNvSpPr/>
          <p:nvPr/>
        </p:nvSpPr>
        <p:spPr>
          <a:xfrm>
            <a:off x="2011680" y="4233672"/>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80</a:t>
            </a:r>
            <a:endParaRPr lang="en-US" sz="1200" dirty="0"/>
          </a:p>
        </p:txBody>
      </p:sp>
      <p:sp>
        <p:nvSpPr>
          <p:cNvPr id="34" name="Shape 32"/>
          <p:cNvSpPr/>
          <p:nvPr/>
        </p:nvSpPr>
        <p:spPr>
          <a:xfrm>
            <a:off x="3474720" y="4233672"/>
            <a:ext cx="1463040" cy="384048"/>
          </a:xfrm>
          <a:prstGeom prst="rect">
            <a:avLst/>
          </a:prstGeom>
          <a:solidFill>
            <a:srgbClr val="FFFFFF"/>
          </a:solidFill>
          <a:ln w="6350">
            <a:solidFill>
              <a:srgbClr val="D8DED2"/>
            </a:solidFill>
            <a:prstDash val="solid"/>
          </a:ln>
        </p:spPr>
        <p:txBody>
          <a:bodyPr/>
          <a:lstStyle/>
          <a:p>
            <a:endParaRPr lang="ko-KR" altLang="en-US"/>
          </a:p>
        </p:txBody>
      </p:sp>
      <p:sp>
        <p:nvSpPr>
          <p:cNvPr id="35" name="Text 33"/>
          <p:cNvSpPr/>
          <p:nvPr/>
        </p:nvSpPr>
        <p:spPr>
          <a:xfrm>
            <a:off x="3474720" y="4233672"/>
            <a:ext cx="1463040" cy="384048"/>
          </a:xfrm>
          <a:prstGeom prst="rect">
            <a:avLst/>
          </a:prstGeom>
          <a:noFill/>
          <a:ln/>
        </p:spPr>
        <p:txBody>
          <a:bodyPr wrap="square" rtlCol="0" anchor="ctr"/>
          <a:lstStyle/>
          <a:p>
            <a:pPr marL="0" indent="0" algn="ctr">
              <a:buNone/>
            </a:pPr>
            <a:r>
              <a:rPr lang="en-US" sz="1200" dirty="0">
                <a:solidFill>
                  <a:srgbClr val="27321F"/>
                </a:solidFill>
                <a:latin typeface="맑은 고딕" pitchFamily="34" charset="0"/>
                <a:ea typeface="맑은 고딕" pitchFamily="34" charset="-122"/>
                <a:cs typeface="맑은 고딕" pitchFamily="34" charset="-120"/>
              </a:rPr>
              <a:t>1</a:t>
            </a:r>
            <a:endParaRPr lang="en-US" sz="1200" dirty="0"/>
          </a:p>
        </p:txBody>
      </p:sp>
      <p:sp>
        <p:nvSpPr>
          <p:cNvPr id="36" name="Shape 34"/>
          <p:cNvSpPr/>
          <p:nvPr/>
        </p:nvSpPr>
        <p:spPr>
          <a:xfrm>
            <a:off x="5486400" y="2697480"/>
            <a:ext cx="6153912" cy="1920240"/>
          </a:xfrm>
          <a:prstGeom prst="roundRect">
            <a:avLst>
              <a:gd name="adj" fmla="val 4762"/>
            </a:avLst>
          </a:prstGeom>
          <a:solidFill>
            <a:srgbClr val="E3EFD3"/>
          </a:solidFill>
          <a:ln/>
        </p:spPr>
        <p:txBody>
          <a:bodyPr/>
          <a:lstStyle/>
          <a:p>
            <a:endParaRPr lang="ko-KR" altLang="en-US"/>
          </a:p>
        </p:txBody>
      </p:sp>
      <p:sp>
        <p:nvSpPr>
          <p:cNvPr id="37" name="Text 35"/>
          <p:cNvSpPr/>
          <p:nvPr/>
        </p:nvSpPr>
        <p:spPr>
          <a:xfrm>
            <a:off x="5760720" y="2834640"/>
            <a:ext cx="4572000" cy="365760"/>
          </a:xfrm>
          <a:prstGeom prst="rect">
            <a:avLst/>
          </a:prstGeom>
          <a:noFill/>
          <a:ln/>
        </p:spPr>
        <p:txBody>
          <a:bodyPr wrap="square" rtlCol="0" anchor="ctr"/>
          <a:lstStyle/>
          <a:p>
            <a:pPr marL="0" indent="0">
              <a:buNone/>
            </a:pPr>
            <a:r>
              <a:rPr lang="en-US" sz="1450" b="1" dirty="0">
                <a:solidFill>
                  <a:srgbClr val="1E4220"/>
                </a:solidFill>
                <a:latin typeface="맑은 고딕" pitchFamily="34" charset="0"/>
                <a:ea typeface="맑은 고딕" pitchFamily="34" charset="-122"/>
                <a:cs typeface="맑은 고딕" pitchFamily="34" charset="-120"/>
              </a:rPr>
              <a:t>후보 분할변수 · 분할점</a:t>
            </a:r>
            <a:endParaRPr lang="en-US" sz="1450" dirty="0"/>
          </a:p>
        </p:txBody>
      </p:sp>
      <p:sp>
        <p:nvSpPr>
          <p:cNvPr id="38" name="Text 36"/>
          <p:cNvSpPr/>
          <p:nvPr/>
        </p:nvSpPr>
        <p:spPr>
          <a:xfrm>
            <a:off x="5760720" y="3337560"/>
            <a:ext cx="5605272" cy="1097280"/>
          </a:xfrm>
          <a:prstGeom prst="rect">
            <a:avLst/>
          </a:prstGeom>
          <a:noFill/>
          <a:ln/>
        </p:spPr>
        <p:txBody>
          <a:bodyPr wrap="square" rtlCol="0" anchor="ctr"/>
          <a:lstStyle/>
          <a:p>
            <a:pPr marL="342900" indent="-342900">
              <a:spcAft>
                <a:spcPts val="1000"/>
              </a:spcAft>
              <a:buSzPct val="100000"/>
              <a:buChar char="•"/>
            </a:pPr>
            <a:r>
              <a:rPr lang="en-US" sz="1350" dirty="0">
                <a:solidFill>
                  <a:srgbClr val="27321F"/>
                </a:solidFill>
                <a:latin typeface="맑은 고딕" pitchFamily="34" charset="0"/>
                <a:ea typeface="맑은 고딕" pitchFamily="34" charset="-122"/>
                <a:cs typeface="맑은 고딕" pitchFamily="34" charset="-120"/>
              </a:rPr>
              <a:t>분할변수 j = x1(공부시간) → 후보 s = 1, 2, 3, 4</a:t>
            </a:r>
            <a:endParaRPr lang="en-US" sz="1350" dirty="0"/>
          </a:p>
          <a:p>
            <a:pPr marL="342900" indent="-342900">
              <a:spcAft>
                <a:spcPts val="1000"/>
              </a:spcAft>
              <a:buSzPct val="100000"/>
              <a:buChar char="•"/>
            </a:pPr>
            <a:r>
              <a:rPr lang="en-US" sz="1350" dirty="0">
                <a:solidFill>
                  <a:srgbClr val="27321F"/>
                </a:solidFill>
                <a:latin typeface="맑은 고딕" pitchFamily="34" charset="0"/>
                <a:ea typeface="맑은 고딕" pitchFamily="34" charset="-122"/>
                <a:cs typeface="맑은 고딕" pitchFamily="34" charset="-120"/>
              </a:rPr>
              <a:t>분할변수 j = x2(시험성적) → 후보 s = 50, 60, 70, 80</a:t>
            </a:r>
            <a:endParaRPr lang="en-US" sz="1350" dirty="0"/>
          </a:p>
        </p:txBody>
      </p:sp>
      <p:sp>
        <p:nvSpPr>
          <p:cNvPr id="39" name="Text 37"/>
          <p:cNvSpPr/>
          <p:nvPr/>
        </p:nvSpPr>
        <p:spPr>
          <a:xfrm>
            <a:off x="548640" y="5029200"/>
            <a:ext cx="11091672" cy="640080"/>
          </a:xfrm>
          <a:prstGeom prst="rect">
            <a:avLst/>
          </a:prstGeom>
          <a:noFill/>
          <a:ln/>
        </p:spPr>
        <p:txBody>
          <a:bodyPr wrap="square" rtlCol="0" anchor="ctr"/>
          <a:lstStyle/>
          <a:p>
            <a:pPr marL="0" indent="0">
              <a:buNone/>
            </a:pPr>
            <a:r>
              <a:rPr lang="en-US" sz="1450" i="1" dirty="0">
                <a:solidFill>
                  <a:srgbClr val="27321F"/>
                </a:solidFill>
                <a:latin typeface="맑은 고딕" pitchFamily="34" charset="0"/>
                <a:ea typeface="맑은 고딕" pitchFamily="34" charset="-122"/>
                <a:cs typeface="맑은 고딕" pitchFamily="34" charset="-120"/>
              </a:rPr>
              <a:t>각 노드에서 분할변수와 분할점의 조합은 '불순도의 감소가 최대'가 되도록 선택합니다 — 다음 슬라이드에서 직접 비교해봅니다.</a:t>
            </a:r>
            <a:endParaRPr lang="en-US" sz="1450" dirty="0"/>
          </a:p>
        </p:txBody>
      </p:sp>
      <p:sp>
        <p:nvSpPr>
          <p:cNvPr id="40" name="Text 38"/>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계산해보기 ①</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지니 계수로 최적 분할점 찾기 — x1(공부시간) 기준</a:t>
            </a:r>
            <a:endParaRPr lang="en-US" sz="2700" dirty="0"/>
          </a:p>
        </p:txBody>
      </p:sp>
      <p:sp>
        <p:nvSpPr>
          <p:cNvPr id="4" name="Text 2"/>
          <p:cNvSpPr/>
          <p:nvPr/>
        </p:nvSpPr>
        <p:spPr>
          <a:xfrm>
            <a:off x="548640" y="1691640"/>
            <a:ext cx="11091672" cy="365760"/>
          </a:xfrm>
          <a:prstGeom prst="rect">
            <a:avLst/>
          </a:prstGeom>
          <a:noFill/>
          <a:ln/>
        </p:spPr>
        <p:txBody>
          <a:bodyPr wrap="square" rtlCol="0" anchor="ctr"/>
          <a:lstStyle/>
          <a:p>
            <a:pPr marL="0" indent="0">
              <a:buNone/>
            </a:pPr>
            <a:r>
              <a:rPr lang="en-US" sz="1500" b="1" dirty="0" err="1">
                <a:solidFill>
                  <a:srgbClr val="1E4220"/>
                </a:solidFill>
                <a:latin typeface="맑은 고딕" pitchFamily="34" charset="0"/>
                <a:ea typeface="맑은 고딕" pitchFamily="34" charset="-122"/>
                <a:cs typeface="맑은 고딕" pitchFamily="34" charset="-120"/>
              </a:rPr>
              <a:t>지니</a:t>
            </a:r>
            <a:r>
              <a:rPr lang="en-US" sz="1500" b="1" dirty="0">
                <a:solidFill>
                  <a:srgbClr val="1E4220"/>
                </a:solidFill>
                <a:latin typeface="맑은 고딕" pitchFamily="34" charset="0"/>
                <a:ea typeface="맑은 고딕" pitchFamily="34" charset="-122"/>
                <a:cs typeface="맑은 고딕" pitchFamily="34" charset="-120"/>
              </a:rPr>
              <a:t> </a:t>
            </a:r>
            <a:r>
              <a:rPr lang="en-US" sz="1500" b="1" dirty="0" err="1">
                <a:solidFill>
                  <a:srgbClr val="1E4220"/>
                </a:solidFill>
                <a:latin typeface="맑은 고딕" pitchFamily="34" charset="0"/>
                <a:ea typeface="맑은 고딕" pitchFamily="34" charset="-122"/>
                <a:cs typeface="맑은 고딕" pitchFamily="34" charset="-120"/>
              </a:rPr>
              <a:t>계수</a:t>
            </a:r>
            <a:r>
              <a:rPr lang="en-US" sz="1500" b="1" dirty="0">
                <a:solidFill>
                  <a:srgbClr val="1E4220"/>
                </a:solidFill>
                <a:latin typeface="맑은 고딕" pitchFamily="34" charset="0"/>
                <a:ea typeface="맑은 고딕" pitchFamily="34" charset="-122"/>
                <a:cs typeface="맑은 고딕" pitchFamily="34" charset="-120"/>
              </a:rPr>
              <a:t>(Gini impurity):  G = 1 − </a:t>
            </a:r>
            <a:r>
              <a:rPr lang="en-US" sz="1500" b="1" dirty="0" err="1">
                <a:solidFill>
                  <a:srgbClr val="1E4220"/>
                </a:solidFill>
                <a:latin typeface="맑은 고딕" pitchFamily="34" charset="0"/>
                <a:ea typeface="맑은 고딕" pitchFamily="34" charset="-122"/>
                <a:cs typeface="맑은 고딕" pitchFamily="34" charset="-120"/>
              </a:rPr>
              <a:t>Σ</a:t>
            </a:r>
            <a:r>
              <a:rPr lang="en-US" sz="1500" b="1" dirty="0">
                <a:solidFill>
                  <a:srgbClr val="1E4220"/>
                </a:solidFill>
                <a:latin typeface="맑은 고딕" pitchFamily="34" charset="0"/>
                <a:ea typeface="맑은 고딕" pitchFamily="34" charset="-122"/>
                <a:cs typeface="맑은 고딕" pitchFamily="34" charset="-120"/>
              </a:rPr>
              <a:t> pₖ²        (pₖ = </a:t>
            </a:r>
            <a:r>
              <a:rPr lang="en-US" sz="1500" b="1" dirty="0" err="1">
                <a:solidFill>
                  <a:srgbClr val="1E4220"/>
                </a:solidFill>
                <a:latin typeface="맑은 고딕" pitchFamily="34" charset="0"/>
                <a:ea typeface="맑은 고딕" pitchFamily="34" charset="-122"/>
                <a:cs typeface="맑은 고딕" pitchFamily="34" charset="-120"/>
              </a:rPr>
              <a:t>그</a:t>
            </a:r>
            <a:r>
              <a:rPr lang="en-US" sz="1500" b="1" dirty="0">
                <a:solidFill>
                  <a:srgbClr val="1E4220"/>
                </a:solidFill>
                <a:latin typeface="맑은 고딕" pitchFamily="34" charset="0"/>
                <a:ea typeface="맑은 고딕" pitchFamily="34" charset="-122"/>
                <a:cs typeface="맑은 고딕" pitchFamily="34" charset="-120"/>
              </a:rPr>
              <a:t> </a:t>
            </a:r>
            <a:r>
              <a:rPr lang="en-US" sz="1500" b="1" dirty="0" err="1">
                <a:solidFill>
                  <a:srgbClr val="1E4220"/>
                </a:solidFill>
                <a:latin typeface="맑은 고딕" pitchFamily="34" charset="0"/>
                <a:ea typeface="맑은 고딕" pitchFamily="34" charset="-122"/>
                <a:cs typeface="맑은 고딕" pitchFamily="34" charset="-120"/>
              </a:rPr>
              <a:t>그룹에서</a:t>
            </a:r>
            <a:r>
              <a:rPr lang="en-US" sz="1500" b="1" dirty="0">
                <a:solidFill>
                  <a:srgbClr val="1E4220"/>
                </a:solidFill>
                <a:latin typeface="맑은 고딕" pitchFamily="34" charset="0"/>
                <a:ea typeface="맑은 고딕" pitchFamily="34" charset="-122"/>
                <a:cs typeface="맑은 고딕" pitchFamily="34" charset="-120"/>
              </a:rPr>
              <a:t> </a:t>
            </a:r>
            <a:r>
              <a:rPr lang="en-US" sz="1500" b="1" dirty="0" err="1">
                <a:solidFill>
                  <a:srgbClr val="1E4220"/>
                </a:solidFill>
                <a:latin typeface="맑은 고딕" pitchFamily="34" charset="0"/>
                <a:ea typeface="맑은 고딕" pitchFamily="34" charset="-122"/>
                <a:cs typeface="맑은 고딕" pitchFamily="34" charset="-120"/>
              </a:rPr>
              <a:t>클래스</a:t>
            </a:r>
            <a:r>
              <a:rPr lang="en-US" sz="1500" b="1" dirty="0">
                <a:solidFill>
                  <a:srgbClr val="1E4220"/>
                </a:solidFill>
                <a:latin typeface="맑은 고딕" pitchFamily="34" charset="0"/>
                <a:ea typeface="맑은 고딕" pitchFamily="34" charset="-122"/>
                <a:cs typeface="맑은 고딕" pitchFamily="34" charset="-120"/>
              </a:rPr>
              <a:t> </a:t>
            </a:r>
            <a:r>
              <a:rPr lang="en-US" sz="1500" b="1" dirty="0" err="1">
                <a:solidFill>
                  <a:srgbClr val="1E4220"/>
                </a:solidFill>
                <a:latin typeface="맑은 고딕" pitchFamily="34" charset="0"/>
                <a:ea typeface="맑은 고딕" pitchFamily="34" charset="-122"/>
                <a:cs typeface="맑은 고딕" pitchFamily="34" charset="-120"/>
              </a:rPr>
              <a:t>k의</a:t>
            </a:r>
            <a:r>
              <a:rPr lang="en-US" sz="1500" b="1" dirty="0">
                <a:solidFill>
                  <a:srgbClr val="1E4220"/>
                </a:solidFill>
                <a:latin typeface="맑은 고딕" pitchFamily="34" charset="0"/>
                <a:ea typeface="맑은 고딕" pitchFamily="34" charset="-122"/>
                <a:cs typeface="맑은 고딕" pitchFamily="34" charset="-120"/>
              </a:rPr>
              <a:t> </a:t>
            </a:r>
            <a:r>
              <a:rPr lang="en-US" sz="1500" b="1" dirty="0" err="1">
                <a:solidFill>
                  <a:srgbClr val="1E4220"/>
                </a:solidFill>
                <a:latin typeface="맑은 고딕" pitchFamily="34" charset="0"/>
                <a:ea typeface="맑은 고딕" pitchFamily="34" charset="-122"/>
                <a:cs typeface="맑은 고딕" pitchFamily="34" charset="-120"/>
              </a:rPr>
              <a:t>비율</a:t>
            </a:r>
            <a:r>
              <a:rPr lang="en-US" sz="1500" b="1" dirty="0">
                <a:solidFill>
                  <a:srgbClr val="1E4220"/>
                </a:solidFill>
                <a:latin typeface="맑은 고딕" pitchFamily="34" charset="0"/>
                <a:ea typeface="맑은 고딕" pitchFamily="34" charset="-122"/>
                <a:cs typeface="맑은 고딕" pitchFamily="34" charset="-120"/>
              </a:rPr>
              <a:t>)</a:t>
            </a:r>
            <a:endParaRPr lang="en-US" sz="1500" dirty="0"/>
          </a:p>
        </p:txBody>
      </p:sp>
      <p:sp>
        <p:nvSpPr>
          <p:cNvPr id="5" name="Shape 3"/>
          <p:cNvSpPr/>
          <p:nvPr/>
        </p:nvSpPr>
        <p:spPr>
          <a:xfrm>
            <a:off x="548640" y="2240280"/>
            <a:ext cx="5317236" cy="3337560"/>
          </a:xfrm>
          <a:prstGeom prst="roundRect">
            <a:avLst>
              <a:gd name="adj" fmla="val 2740"/>
            </a:avLst>
          </a:prstGeom>
          <a:solidFill>
            <a:srgbClr val="F6F8F4"/>
          </a:solidFill>
          <a:ln/>
        </p:spPr>
        <p:txBody>
          <a:bodyPr/>
          <a:lstStyle/>
          <a:p>
            <a:endParaRPr lang="ko-KR" altLang="en-US"/>
          </a:p>
        </p:txBody>
      </p:sp>
      <p:sp>
        <p:nvSpPr>
          <p:cNvPr id="6" name="Text 4"/>
          <p:cNvSpPr/>
          <p:nvPr/>
        </p:nvSpPr>
        <p:spPr>
          <a:xfrm>
            <a:off x="822960" y="2423160"/>
            <a:ext cx="4768596" cy="365760"/>
          </a:xfrm>
          <a:prstGeom prst="rect">
            <a:avLst/>
          </a:prstGeom>
          <a:noFill/>
          <a:ln/>
        </p:spPr>
        <p:txBody>
          <a:bodyPr wrap="square" rtlCol="0" anchor="ctr"/>
          <a:lstStyle/>
          <a:p>
            <a:pPr marL="0" indent="0">
              <a:buNone/>
            </a:pPr>
            <a:r>
              <a:rPr lang="en-US" sz="1700" b="1" dirty="0">
                <a:solidFill>
                  <a:srgbClr val="1E4220"/>
                </a:solidFill>
                <a:latin typeface="맑은 고딕" pitchFamily="34" charset="0"/>
                <a:ea typeface="맑은 고딕" pitchFamily="34" charset="-122"/>
                <a:cs typeface="맑은 고딕" pitchFamily="34" charset="-120"/>
              </a:rPr>
              <a:t>분할점 s = 1</a:t>
            </a:r>
            <a:endParaRPr lang="en-US" sz="1700" dirty="0"/>
          </a:p>
        </p:txBody>
      </p:sp>
      <p:sp>
        <p:nvSpPr>
          <p:cNvPr id="7" name="Text 5"/>
          <p:cNvSpPr/>
          <p:nvPr/>
        </p:nvSpPr>
        <p:spPr>
          <a:xfrm>
            <a:off x="822960" y="2926080"/>
            <a:ext cx="4768596" cy="457200"/>
          </a:xfrm>
          <a:prstGeom prst="rect">
            <a:avLst/>
          </a:prstGeom>
          <a:noFill/>
          <a:ln/>
        </p:spPr>
        <p:txBody>
          <a:bodyPr wrap="square" rtlCol="0" anchor="ctr"/>
          <a:lstStyle/>
          <a:p>
            <a:pPr marL="0" indent="0">
              <a:buNone/>
            </a:pPr>
            <a:r>
              <a:rPr lang="en-US" sz="1200" dirty="0">
                <a:solidFill>
                  <a:srgbClr val="27321F"/>
                </a:solidFill>
                <a:latin typeface="맑은 고딕" pitchFamily="34" charset="0"/>
                <a:ea typeface="맑은 고딕" pitchFamily="34" charset="-122"/>
                <a:cs typeface="맑은 고딕" pitchFamily="34" charset="-120"/>
              </a:rPr>
              <a:t>그룹1: {[1,50,0]} · 1개</a:t>
            </a:r>
            <a:endParaRPr lang="en-US" sz="1200" dirty="0"/>
          </a:p>
        </p:txBody>
      </p:sp>
      <p:sp>
        <p:nvSpPr>
          <p:cNvPr id="8" name="Text 6"/>
          <p:cNvSpPr/>
          <p:nvPr/>
        </p:nvSpPr>
        <p:spPr>
          <a:xfrm>
            <a:off x="822960" y="3337560"/>
            <a:ext cx="4768596" cy="320040"/>
          </a:xfrm>
          <a:prstGeom prst="rect">
            <a:avLst/>
          </a:prstGeom>
          <a:noFill/>
          <a:ln/>
        </p:spPr>
        <p:txBody>
          <a:bodyPr wrap="square" rtlCol="0" anchor="ctr"/>
          <a:lstStyle/>
          <a:p>
            <a:pPr marL="0" indent="0">
              <a:buNone/>
            </a:pPr>
            <a:r>
              <a:rPr lang="en-US" sz="1300" b="1" dirty="0">
                <a:solidFill>
                  <a:srgbClr val="1E4220"/>
                </a:solidFill>
                <a:latin typeface="맑은 고딕" pitchFamily="34" charset="0"/>
                <a:ea typeface="맑은 고딕" pitchFamily="34" charset="-122"/>
                <a:cs typeface="맑은 고딕" pitchFamily="34" charset="-120"/>
              </a:rPr>
              <a:t>G₁ = 1−(1²) = 0</a:t>
            </a:r>
            <a:endParaRPr lang="en-US" sz="1300" dirty="0"/>
          </a:p>
        </p:txBody>
      </p:sp>
      <p:sp>
        <p:nvSpPr>
          <p:cNvPr id="9" name="Text 7"/>
          <p:cNvSpPr/>
          <p:nvPr/>
        </p:nvSpPr>
        <p:spPr>
          <a:xfrm>
            <a:off x="822960" y="3749040"/>
            <a:ext cx="4768596" cy="457200"/>
          </a:xfrm>
          <a:prstGeom prst="rect">
            <a:avLst/>
          </a:prstGeom>
          <a:noFill/>
          <a:ln/>
        </p:spPr>
        <p:txBody>
          <a:bodyPr wrap="square" rtlCol="0" anchor="ctr"/>
          <a:lstStyle/>
          <a:p>
            <a:pPr marL="0" indent="0">
              <a:buNone/>
            </a:pPr>
            <a:r>
              <a:rPr lang="en-US" sz="1200" dirty="0">
                <a:solidFill>
                  <a:srgbClr val="27321F"/>
                </a:solidFill>
                <a:latin typeface="맑은 고딕" pitchFamily="34" charset="0"/>
                <a:ea typeface="맑은 고딕" pitchFamily="34" charset="-122"/>
                <a:cs typeface="맑은 고딕" pitchFamily="34" charset="-120"/>
              </a:rPr>
              <a:t>그룹2: {[2,60,0],[3,70,1],[4,80,1]} · 3개</a:t>
            </a:r>
            <a:endParaRPr lang="en-US" sz="1200" dirty="0"/>
          </a:p>
        </p:txBody>
      </p:sp>
      <p:sp>
        <p:nvSpPr>
          <p:cNvPr id="10" name="Text 8"/>
          <p:cNvSpPr/>
          <p:nvPr/>
        </p:nvSpPr>
        <p:spPr>
          <a:xfrm>
            <a:off x="822960" y="4160520"/>
            <a:ext cx="4768596" cy="320040"/>
          </a:xfrm>
          <a:prstGeom prst="rect">
            <a:avLst/>
          </a:prstGeom>
          <a:noFill/>
          <a:ln/>
        </p:spPr>
        <p:txBody>
          <a:bodyPr wrap="square" rtlCol="0" anchor="ctr"/>
          <a:lstStyle/>
          <a:p>
            <a:pPr marL="0" indent="0">
              <a:buNone/>
            </a:pPr>
            <a:r>
              <a:rPr lang="en-US" sz="1300" b="1" dirty="0">
                <a:solidFill>
                  <a:srgbClr val="1E4220"/>
                </a:solidFill>
                <a:latin typeface="맑은 고딕" pitchFamily="34" charset="0"/>
                <a:ea typeface="맑은 고딕" pitchFamily="34" charset="-122"/>
                <a:cs typeface="맑은 고딕" pitchFamily="34" charset="-120"/>
              </a:rPr>
              <a:t>G₂ = 1−((⅓)²+(⅔)²) = 4/9</a:t>
            </a:r>
            <a:endParaRPr lang="en-US" sz="1300" dirty="0"/>
          </a:p>
        </p:txBody>
      </p:sp>
      <p:sp>
        <p:nvSpPr>
          <p:cNvPr id="11" name="Text 9"/>
          <p:cNvSpPr/>
          <p:nvPr/>
        </p:nvSpPr>
        <p:spPr>
          <a:xfrm>
            <a:off x="822960" y="4709160"/>
            <a:ext cx="4768596" cy="365760"/>
          </a:xfrm>
          <a:prstGeom prst="rect">
            <a:avLst/>
          </a:prstGeom>
          <a:noFill/>
          <a:ln/>
        </p:spPr>
        <p:txBody>
          <a:bodyPr wrap="square" rtlCol="0" anchor="ctr"/>
          <a:lstStyle/>
          <a:p>
            <a:pPr marL="0" indent="0">
              <a:buNone/>
            </a:pPr>
            <a:r>
              <a:rPr lang="en-US" sz="1500" b="1" dirty="0">
                <a:solidFill>
                  <a:srgbClr val="27321F"/>
                </a:solidFill>
                <a:latin typeface="맑은 고딕" pitchFamily="34" charset="0"/>
                <a:ea typeface="맑은 고딕" pitchFamily="34" charset="-122"/>
                <a:cs typeface="맑은 고딕" pitchFamily="34" charset="-120"/>
              </a:rPr>
              <a:t>전체 지니 = ¼×0 + ¾×4/9 = 1/3</a:t>
            </a:r>
            <a:endParaRPr lang="en-US" sz="1500" dirty="0"/>
          </a:p>
        </p:txBody>
      </p:sp>
      <p:sp>
        <p:nvSpPr>
          <p:cNvPr id="12" name="Shape 10"/>
          <p:cNvSpPr/>
          <p:nvPr/>
        </p:nvSpPr>
        <p:spPr>
          <a:xfrm>
            <a:off x="6323076" y="2240280"/>
            <a:ext cx="5317236" cy="3337560"/>
          </a:xfrm>
          <a:prstGeom prst="roundRect">
            <a:avLst>
              <a:gd name="adj" fmla="val 2740"/>
            </a:avLst>
          </a:prstGeom>
          <a:solidFill>
            <a:srgbClr val="E3EFD3"/>
          </a:solidFill>
          <a:ln/>
        </p:spPr>
        <p:txBody>
          <a:bodyPr/>
          <a:lstStyle/>
          <a:p>
            <a:endParaRPr lang="ko-KR" altLang="en-US"/>
          </a:p>
        </p:txBody>
      </p:sp>
      <p:sp>
        <p:nvSpPr>
          <p:cNvPr id="13" name="Text 11"/>
          <p:cNvSpPr/>
          <p:nvPr/>
        </p:nvSpPr>
        <p:spPr>
          <a:xfrm>
            <a:off x="6597396" y="2423160"/>
            <a:ext cx="4768596" cy="365760"/>
          </a:xfrm>
          <a:prstGeom prst="rect">
            <a:avLst/>
          </a:prstGeom>
          <a:noFill/>
          <a:ln/>
        </p:spPr>
        <p:txBody>
          <a:bodyPr wrap="square" rtlCol="0" anchor="ctr"/>
          <a:lstStyle/>
          <a:p>
            <a:pPr marL="0" indent="0">
              <a:buNone/>
            </a:pPr>
            <a:r>
              <a:rPr lang="en-US" sz="1700" b="1" dirty="0">
                <a:solidFill>
                  <a:srgbClr val="1E4220"/>
                </a:solidFill>
                <a:latin typeface="맑은 고딕" pitchFamily="34" charset="0"/>
                <a:ea typeface="맑은 고딕" pitchFamily="34" charset="-122"/>
                <a:cs typeface="맑은 고딕" pitchFamily="34" charset="-120"/>
              </a:rPr>
              <a:t>분할점 s = 2</a:t>
            </a:r>
            <a:endParaRPr lang="en-US" sz="1700" dirty="0"/>
          </a:p>
        </p:txBody>
      </p:sp>
      <p:sp>
        <p:nvSpPr>
          <p:cNvPr id="14" name="Text 12"/>
          <p:cNvSpPr/>
          <p:nvPr/>
        </p:nvSpPr>
        <p:spPr>
          <a:xfrm>
            <a:off x="6597396" y="2926080"/>
            <a:ext cx="4768596" cy="457200"/>
          </a:xfrm>
          <a:prstGeom prst="rect">
            <a:avLst/>
          </a:prstGeom>
          <a:noFill/>
          <a:ln/>
        </p:spPr>
        <p:txBody>
          <a:bodyPr wrap="square" rtlCol="0" anchor="ctr"/>
          <a:lstStyle/>
          <a:p>
            <a:pPr marL="0" indent="0">
              <a:buNone/>
            </a:pPr>
            <a:r>
              <a:rPr lang="en-US" sz="1200" dirty="0">
                <a:solidFill>
                  <a:srgbClr val="27321F"/>
                </a:solidFill>
                <a:latin typeface="맑은 고딕" pitchFamily="34" charset="0"/>
                <a:ea typeface="맑은 고딕" pitchFamily="34" charset="-122"/>
                <a:cs typeface="맑은 고딕" pitchFamily="34" charset="-120"/>
              </a:rPr>
              <a:t>그룹1: {[1,50,0],[2,60,0]} · 2개(모두 0)</a:t>
            </a:r>
            <a:endParaRPr lang="en-US" sz="1200" dirty="0"/>
          </a:p>
        </p:txBody>
      </p:sp>
      <p:sp>
        <p:nvSpPr>
          <p:cNvPr id="15" name="Text 13"/>
          <p:cNvSpPr/>
          <p:nvPr/>
        </p:nvSpPr>
        <p:spPr>
          <a:xfrm>
            <a:off x="6597396" y="3337560"/>
            <a:ext cx="4768596" cy="320040"/>
          </a:xfrm>
          <a:prstGeom prst="rect">
            <a:avLst/>
          </a:prstGeom>
          <a:noFill/>
          <a:ln/>
        </p:spPr>
        <p:txBody>
          <a:bodyPr wrap="square" rtlCol="0" anchor="ctr"/>
          <a:lstStyle/>
          <a:p>
            <a:pPr marL="0" indent="0">
              <a:buNone/>
            </a:pPr>
            <a:r>
              <a:rPr lang="en-US" sz="1300" b="1" dirty="0">
                <a:solidFill>
                  <a:srgbClr val="1E4220"/>
                </a:solidFill>
                <a:latin typeface="맑은 고딕" pitchFamily="34" charset="0"/>
                <a:ea typeface="맑은 고딕" pitchFamily="34" charset="-122"/>
                <a:cs typeface="맑은 고딕" pitchFamily="34" charset="-120"/>
              </a:rPr>
              <a:t>G₁ = 1−(1²) = 0</a:t>
            </a:r>
            <a:endParaRPr lang="en-US" sz="1300" dirty="0"/>
          </a:p>
        </p:txBody>
      </p:sp>
      <p:sp>
        <p:nvSpPr>
          <p:cNvPr id="16" name="Text 14"/>
          <p:cNvSpPr/>
          <p:nvPr/>
        </p:nvSpPr>
        <p:spPr>
          <a:xfrm>
            <a:off x="6597396" y="3749040"/>
            <a:ext cx="4768596" cy="457200"/>
          </a:xfrm>
          <a:prstGeom prst="rect">
            <a:avLst/>
          </a:prstGeom>
          <a:noFill/>
          <a:ln/>
        </p:spPr>
        <p:txBody>
          <a:bodyPr wrap="square" rtlCol="0" anchor="ctr"/>
          <a:lstStyle/>
          <a:p>
            <a:pPr marL="0" indent="0">
              <a:buNone/>
            </a:pPr>
            <a:r>
              <a:rPr lang="en-US" sz="1200" dirty="0">
                <a:solidFill>
                  <a:srgbClr val="27321F"/>
                </a:solidFill>
                <a:latin typeface="맑은 고딕" pitchFamily="34" charset="0"/>
                <a:ea typeface="맑은 고딕" pitchFamily="34" charset="-122"/>
                <a:cs typeface="맑은 고딕" pitchFamily="34" charset="-120"/>
              </a:rPr>
              <a:t>그룹2: {[3,70,1],[4,80,1]} · 2개(모두 1)</a:t>
            </a:r>
            <a:endParaRPr lang="en-US" sz="1200" dirty="0"/>
          </a:p>
        </p:txBody>
      </p:sp>
      <p:sp>
        <p:nvSpPr>
          <p:cNvPr id="17" name="Text 15"/>
          <p:cNvSpPr/>
          <p:nvPr/>
        </p:nvSpPr>
        <p:spPr>
          <a:xfrm>
            <a:off x="6597396" y="4160520"/>
            <a:ext cx="4768596" cy="320040"/>
          </a:xfrm>
          <a:prstGeom prst="rect">
            <a:avLst/>
          </a:prstGeom>
          <a:noFill/>
          <a:ln/>
        </p:spPr>
        <p:txBody>
          <a:bodyPr wrap="square" rtlCol="0" anchor="ctr"/>
          <a:lstStyle/>
          <a:p>
            <a:pPr marL="0" indent="0">
              <a:buNone/>
            </a:pPr>
            <a:r>
              <a:rPr lang="en-US" sz="1300" b="1" dirty="0">
                <a:solidFill>
                  <a:srgbClr val="1E4220"/>
                </a:solidFill>
                <a:latin typeface="맑은 고딕" pitchFamily="34" charset="0"/>
                <a:ea typeface="맑은 고딕" pitchFamily="34" charset="-122"/>
                <a:cs typeface="맑은 고딕" pitchFamily="34" charset="-120"/>
              </a:rPr>
              <a:t>G₂ = 1−(1²) = 0</a:t>
            </a:r>
            <a:endParaRPr lang="en-US" sz="1300" dirty="0"/>
          </a:p>
        </p:txBody>
      </p:sp>
      <p:sp>
        <p:nvSpPr>
          <p:cNvPr id="18" name="Text 16"/>
          <p:cNvSpPr/>
          <p:nvPr/>
        </p:nvSpPr>
        <p:spPr>
          <a:xfrm>
            <a:off x="6597396" y="4709160"/>
            <a:ext cx="4768596" cy="365760"/>
          </a:xfrm>
          <a:prstGeom prst="rect">
            <a:avLst/>
          </a:prstGeom>
          <a:noFill/>
          <a:ln/>
        </p:spPr>
        <p:txBody>
          <a:bodyPr wrap="square" rtlCol="0" anchor="ctr"/>
          <a:lstStyle/>
          <a:p>
            <a:pPr marL="0" indent="0">
              <a:buNone/>
            </a:pPr>
            <a:r>
              <a:rPr lang="en-US" sz="1500" b="1" dirty="0">
                <a:solidFill>
                  <a:srgbClr val="B8841E"/>
                </a:solidFill>
                <a:latin typeface="맑은 고딕" pitchFamily="34" charset="0"/>
                <a:ea typeface="맑은 고딕" pitchFamily="34" charset="-122"/>
                <a:cs typeface="맑은 고딕" pitchFamily="34" charset="-120"/>
              </a:rPr>
              <a:t>전체 지니 = ½×0 + ½×0 = 0</a:t>
            </a:r>
            <a:endParaRPr lang="en-US" sz="1500" dirty="0"/>
          </a:p>
        </p:txBody>
      </p:sp>
      <p:sp>
        <p:nvSpPr>
          <p:cNvPr id="19" name="Text 17"/>
          <p:cNvSpPr/>
          <p:nvPr/>
        </p:nvSpPr>
        <p:spPr>
          <a:xfrm>
            <a:off x="6597396" y="5120640"/>
            <a:ext cx="4768596" cy="320040"/>
          </a:xfrm>
          <a:prstGeom prst="rect">
            <a:avLst/>
          </a:prstGeom>
          <a:noFill/>
          <a:ln/>
        </p:spPr>
        <p:txBody>
          <a:bodyPr wrap="square" rtlCol="0" anchor="ctr"/>
          <a:lstStyle/>
          <a:p>
            <a:pPr marL="0" indent="0">
              <a:buNone/>
            </a:pPr>
            <a:r>
              <a:rPr lang="en-US" sz="1250" b="1" i="1" dirty="0">
                <a:solidFill>
                  <a:srgbClr val="B8841E"/>
                </a:solidFill>
                <a:latin typeface="맑은 고딕" pitchFamily="34" charset="0"/>
                <a:ea typeface="맑은 고딕" pitchFamily="34" charset="-122"/>
                <a:cs typeface="맑은 고딕" pitchFamily="34" charset="-120"/>
              </a:rPr>
              <a:t>✓ 완전히 순수 — 최적의 분할점!</a:t>
            </a:r>
            <a:endParaRPr lang="en-US" sz="1250" dirty="0"/>
          </a:p>
        </p:txBody>
      </p:sp>
      <p:sp>
        <p:nvSpPr>
          <p:cNvPr id="20" name="Text 18"/>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06</a:t>
            </a:r>
            <a:endParaRPr lang="en-US" sz="1000" dirty="0"/>
          </a:p>
        </p:txBody>
      </p:sp>
      <p:sp>
        <p:nvSpPr>
          <p:cNvPr id="21" name="Text 2">
            <a:extLst>
              <a:ext uri="{FF2B5EF4-FFF2-40B4-BE49-F238E27FC236}">
                <a16:creationId xmlns:a16="http://schemas.microsoft.com/office/drawing/2014/main" id="{EEEB6761-FD31-C8A7-01FC-C058A742AAD4}"/>
              </a:ext>
            </a:extLst>
          </p:cNvPr>
          <p:cNvSpPr/>
          <p:nvPr/>
        </p:nvSpPr>
        <p:spPr>
          <a:xfrm>
            <a:off x="6597396" y="5623560"/>
            <a:ext cx="3352028" cy="365760"/>
          </a:xfrm>
          <a:prstGeom prst="rect">
            <a:avLst/>
          </a:prstGeom>
          <a:noFill/>
          <a:ln/>
        </p:spPr>
        <p:txBody>
          <a:bodyPr wrap="square" rtlCol="0" anchor="ctr"/>
          <a:lstStyle/>
          <a:p>
            <a:pPr marL="0" indent="0">
              <a:buNone/>
            </a:pPr>
            <a:r>
              <a:rPr lang="ko-KR" altLang="en-US" sz="1500" b="1" dirty="0">
                <a:solidFill>
                  <a:srgbClr val="1E4220"/>
                </a:solidFill>
                <a:latin typeface="맑은 고딕" pitchFamily="34" charset="0"/>
                <a:ea typeface="맑은 고딕" pitchFamily="34" charset="-122"/>
                <a:cs typeface="맑은 고딕" pitchFamily="34" charset="-120"/>
              </a:rPr>
              <a:t>지니 계수가 낮을수록 순수도 높아짐</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계산해보기 ②</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정보이득(Information Gain) — 분할로 불순도가 얼마나 줄었나</a:t>
            </a:r>
            <a:endParaRPr lang="en-US" sz="2700" dirty="0"/>
          </a:p>
        </p:txBody>
      </p:sp>
      <p:sp>
        <p:nvSpPr>
          <p:cNvPr id="4" name="Text 2"/>
          <p:cNvSpPr/>
          <p:nvPr/>
        </p:nvSpPr>
        <p:spPr>
          <a:xfrm>
            <a:off x="548640" y="1691640"/>
            <a:ext cx="11091672" cy="365760"/>
          </a:xfrm>
          <a:prstGeom prst="rect">
            <a:avLst/>
          </a:prstGeom>
          <a:noFill/>
          <a:ln/>
        </p:spPr>
        <p:txBody>
          <a:bodyPr wrap="square" rtlCol="0" anchor="ctr"/>
          <a:lstStyle/>
          <a:p>
            <a:pPr marL="0" indent="0">
              <a:buNone/>
            </a:pPr>
            <a:r>
              <a:rPr lang="en-US" sz="1450" dirty="0">
                <a:solidFill>
                  <a:srgbClr val="27321F"/>
                </a:solidFill>
                <a:latin typeface="맑은 고딕" pitchFamily="34" charset="0"/>
                <a:ea typeface="맑은 고딕" pitchFamily="34" charset="-122"/>
                <a:cs typeface="맑은 고딕" pitchFamily="34" charset="-120"/>
              </a:rPr>
              <a:t>지니 계수를 비교하는 것과 같은 이야기지만, '이 분할이 얼마나 좋아졌는가'를 하나의 숫자로 보여주는 지표가 정보이득입니다.</a:t>
            </a:r>
            <a:endParaRPr lang="en-US" sz="1450" dirty="0"/>
          </a:p>
        </p:txBody>
      </p:sp>
      <p:sp>
        <p:nvSpPr>
          <p:cNvPr id="5" name="Shape 3"/>
          <p:cNvSpPr/>
          <p:nvPr/>
        </p:nvSpPr>
        <p:spPr>
          <a:xfrm>
            <a:off x="548640" y="2148840"/>
            <a:ext cx="11091672" cy="1051560"/>
          </a:xfrm>
          <a:prstGeom prst="roundRect">
            <a:avLst>
              <a:gd name="adj" fmla="val 8696"/>
            </a:avLst>
          </a:prstGeom>
          <a:solidFill>
            <a:srgbClr val="F6F8F4"/>
          </a:solidFill>
          <a:ln/>
        </p:spPr>
        <p:txBody>
          <a:bodyPr/>
          <a:lstStyle/>
          <a:p>
            <a:endParaRPr lang="ko-KR" altLang="en-US"/>
          </a:p>
        </p:txBody>
      </p:sp>
      <p:sp>
        <p:nvSpPr>
          <p:cNvPr id="6" name="Text 4"/>
          <p:cNvSpPr/>
          <p:nvPr/>
        </p:nvSpPr>
        <p:spPr>
          <a:xfrm>
            <a:off x="868680" y="2286000"/>
            <a:ext cx="10451592" cy="365760"/>
          </a:xfrm>
          <a:prstGeom prst="rect">
            <a:avLst/>
          </a:prstGeom>
          <a:noFill/>
          <a:ln/>
        </p:spPr>
        <p:txBody>
          <a:bodyPr wrap="square" rtlCol="0" anchor="ctr"/>
          <a:lstStyle/>
          <a:p>
            <a:pPr marL="0" indent="0">
              <a:buNone/>
            </a:pPr>
            <a:r>
              <a:rPr lang="en-US" sz="1550" b="1" dirty="0">
                <a:solidFill>
                  <a:srgbClr val="B8841E"/>
                </a:solidFill>
                <a:latin typeface="맑은 고딕" pitchFamily="34" charset="0"/>
                <a:ea typeface="맑은 고딕" pitchFamily="34" charset="-122"/>
                <a:cs typeface="맑은 고딕" pitchFamily="34" charset="-120"/>
              </a:rPr>
              <a:t>정보이득(Information Gain):  IG = 분할 전 불순도 − 분할 후 불순도(가중평균)</a:t>
            </a:r>
            <a:endParaRPr lang="en-US" sz="1550" dirty="0"/>
          </a:p>
        </p:txBody>
      </p:sp>
      <p:sp>
        <p:nvSpPr>
          <p:cNvPr id="7" name="Text 5"/>
          <p:cNvSpPr/>
          <p:nvPr/>
        </p:nvSpPr>
        <p:spPr>
          <a:xfrm>
            <a:off x="868680" y="2743200"/>
            <a:ext cx="10451592" cy="320040"/>
          </a:xfrm>
          <a:prstGeom prst="rect">
            <a:avLst/>
          </a:prstGeom>
          <a:noFill/>
          <a:ln/>
        </p:spPr>
        <p:txBody>
          <a:bodyPr wrap="square" rtlCol="0" anchor="ctr"/>
          <a:lstStyle/>
          <a:p>
            <a:pPr marL="0" indent="0">
              <a:buNone/>
            </a:pPr>
            <a:r>
              <a:rPr lang="en-US" sz="1250" i="1" dirty="0">
                <a:solidFill>
                  <a:srgbClr val="5A6B4E"/>
                </a:solidFill>
                <a:latin typeface="맑은 고딕" pitchFamily="34" charset="0"/>
                <a:ea typeface="맑은 고딕" pitchFamily="34" charset="-122"/>
                <a:cs typeface="맑은 고딕" pitchFamily="34" charset="-120"/>
              </a:rPr>
              <a:t>→ 값이 클수록 그 분할이 불순도를 많이 줄인 좋은 분할</a:t>
            </a:r>
            <a:endParaRPr lang="en-US" sz="1250" dirty="0"/>
          </a:p>
        </p:txBody>
      </p:sp>
      <p:sp>
        <p:nvSpPr>
          <p:cNvPr id="8" name="Shape 6"/>
          <p:cNvSpPr/>
          <p:nvPr/>
        </p:nvSpPr>
        <p:spPr>
          <a:xfrm>
            <a:off x="548640" y="3429000"/>
            <a:ext cx="11091672" cy="2240280"/>
          </a:xfrm>
          <a:prstGeom prst="roundRect">
            <a:avLst>
              <a:gd name="adj" fmla="val 4082"/>
            </a:avLst>
          </a:prstGeom>
          <a:solidFill>
            <a:srgbClr val="E3EFD3"/>
          </a:solidFill>
          <a:ln/>
        </p:spPr>
        <p:txBody>
          <a:bodyPr/>
          <a:lstStyle/>
          <a:p>
            <a:endParaRPr lang="ko-KR" altLang="en-US"/>
          </a:p>
        </p:txBody>
      </p:sp>
      <p:sp>
        <p:nvSpPr>
          <p:cNvPr id="9" name="Text 7"/>
          <p:cNvSpPr/>
          <p:nvPr/>
        </p:nvSpPr>
        <p:spPr>
          <a:xfrm>
            <a:off x="868680" y="3566160"/>
            <a:ext cx="10451592" cy="365760"/>
          </a:xfrm>
          <a:prstGeom prst="rect">
            <a:avLst/>
          </a:prstGeom>
          <a:noFill/>
          <a:ln/>
        </p:spPr>
        <p:txBody>
          <a:bodyPr wrap="square" rtlCol="0" anchor="ctr"/>
          <a:lstStyle/>
          <a:p>
            <a:pPr marL="0" indent="0">
              <a:buNone/>
            </a:pPr>
            <a:r>
              <a:rPr lang="en-US" sz="1450" b="1" dirty="0">
                <a:solidFill>
                  <a:srgbClr val="1E4220"/>
                </a:solidFill>
                <a:latin typeface="맑은 고딕" pitchFamily="34" charset="0"/>
                <a:ea typeface="맑은 고딕" pitchFamily="34" charset="-122"/>
                <a:cs typeface="맑은 고딕" pitchFamily="34" charset="-120"/>
              </a:rPr>
              <a:t>앞 슬라이드와 같은 데이터(공부시간/시험성적/합격여부)로 계산해봅니다</a:t>
            </a:r>
            <a:endParaRPr lang="en-US" sz="1450" dirty="0"/>
          </a:p>
        </p:txBody>
      </p:sp>
      <p:sp>
        <p:nvSpPr>
          <p:cNvPr id="10" name="Text 8"/>
          <p:cNvSpPr/>
          <p:nvPr/>
        </p:nvSpPr>
        <p:spPr>
          <a:xfrm>
            <a:off x="868680" y="4023360"/>
            <a:ext cx="10451592" cy="1463040"/>
          </a:xfrm>
          <a:prstGeom prst="rect">
            <a:avLst/>
          </a:prstGeom>
          <a:noFill/>
          <a:ln/>
        </p:spPr>
        <p:txBody>
          <a:bodyPr wrap="square" rtlCol="0" anchor="ctr"/>
          <a:lstStyle/>
          <a:p>
            <a:pPr marL="342900" indent="-342900">
              <a:spcAft>
                <a:spcPts val="600"/>
              </a:spcAft>
              <a:buSzPct val="100000"/>
              <a:buChar char="•"/>
            </a:pPr>
            <a:r>
              <a:rPr lang="en-US" sz="1300" dirty="0">
                <a:solidFill>
                  <a:srgbClr val="27321F"/>
                </a:solidFill>
                <a:latin typeface="맑은 고딕" pitchFamily="34" charset="0"/>
                <a:ea typeface="맑은 고딕" pitchFamily="34" charset="-122"/>
                <a:cs typeface="맑은 고딕" pitchFamily="34" charset="-120"/>
              </a:rPr>
              <a:t>분할 전 지니 = 1 − ((½)²+(½)²) = 0.5  (합격 2명 : 불합격 2명, 반반이라 가장 불순)</a:t>
            </a:r>
            <a:endParaRPr lang="en-US" sz="1300" dirty="0"/>
          </a:p>
          <a:p>
            <a:pPr marL="342900" indent="-342900">
              <a:spcAft>
                <a:spcPts val="600"/>
              </a:spcAft>
              <a:buSzPct val="100000"/>
              <a:buChar char="•"/>
            </a:pPr>
            <a:r>
              <a:rPr lang="en-US" sz="1300" dirty="0">
                <a:solidFill>
                  <a:srgbClr val="27321F"/>
                </a:solidFill>
                <a:latin typeface="맑은 고딕" pitchFamily="34" charset="0"/>
                <a:ea typeface="맑은 고딕" pitchFamily="34" charset="-122"/>
                <a:cs typeface="맑은 고딕" pitchFamily="34" charset="-120"/>
              </a:rPr>
              <a:t>s=1 로 나누면: IG = 0.5 − 1/3 = 1/6 (≈0.17)</a:t>
            </a:r>
            <a:endParaRPr lang="en-US" sz="1300" dirty="0"/>
          </a:p>
          <a:p>
            <a:pPr marL="342900" indent="-342900">
              <a:spcAft>
                <a:spcPts val="600"/>
              </a:spcAft>
              <a:buSzPct val="100000"/>
              <a:buChar char="•"/>
            </a:pPr>
            <a:r>
              <a:rPr lang="en-US" sz="1300" b="1" dirty="0">
                <a:solidFill>
                  <a:srgbClr val="B8841E"/>
                </a:solidFill>
                <a:latin typeface="맑은 고딕" pitchFamily="34" charset="0"/>
                <a:ea typeface="맑은 고딕" pitchFamily="34" charset="-122"/>
                <a:cs typeface="맑은 고딕" pitchFamily="34" charset="-120"/>
              </a:rPr>
              <a:t>s=2 로 나누면: IG = 0.5 − 0 = 0.5 (최댓값!) → 정보이득이 가장 커서 s=2가 최선</a:t>
            </a:r>
            <a:endParaRPr lang="en-US" sz="1300" dirty="0"/>
          </a:p>
        </p:txBody>
      </p:sp>
      <p:sp>
        <p:nvSpPr>
          <p:cNvPr id="11" name="Text 9"/>
          <p:cNvSpPr/>
          <p:nvPr/>
        </p:nvSpPr>
        <p:spPr>
          <a:xfrm>
            <a:off x="548640" y="5852160"/>
            <a:ext cx="11091672" cy="548640"/>
          </a:xfrm>
          <a:prstGeom prst="rect">
            <a:avLst/>
          </a:prstGeom>
          <a:noFill/>
          <a:ln/>
        </p:spPr>
        <p:txBody>
          <a:bodyPr wrap="square" rtlCol="0" anchor="ctr"/>
          <a:lstStyle/>
          <a:p>
            <a:pPr marL="0" indent="0">
              <a:buNone/>
            </a:pPr>
            <a:r>
              <a:rPr lang="en-US" sz="1250" i="1" dirty="0">
                <a:solidFill>
                  <a:srgbClr val="5A6B4E"/>
                </a:solidFill>
                <a:latin typeface="맑은 고딕" pitchFamily="34" charset="0"/>
                <a:ea typeface="맑은 고딕" pitchFamily="34" charset="-122"/>
                <a:cs typeface="맑은 고딕" pitchFamily="34" charset="-120"/>
              </a:rPr>
              <a:t>정보이득이 클수록 좋은 분할 — 지니 계수를 직접 비교했을 때(슬라이드 6)와 결론이 같습니다.</a:t>
            </a:r>
            <a:endParaRPr lang="en-US" sz="1250" dirty="0"/>
          </a:p>
        </p:txBody>
      </p:sp>
      <p:sp>
        <p:nvSpPr>
          <p:cNvPr id="12" name="Text 10"/>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비교</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트리의 결정경계는 '계단' 모양입니다</a:t>
            </a:r>
            <a:endParaRPr lang="en-US" sz="2700" dirty="0"/>
          </a:p>
        </p:txBody>
      </p:sp>
      <p:sp>
        <p:nvSpPr>
          <p:cNvPr id="4" name="Shape 2"/>
          <p:cNvSpPr/>
          <p:nvPr/>
        </p:nvSpPr>
        <p:spPr>
          <a:xfrm>
            <a:off x="548640" y="2103120"/>
            <a:ext cx="5120640" cy="3566160"/>
          </a:xfrm>
          <a:prstGeom prst="roundRect">
            <a:avLst>
              <a:gd name="adj" fmla="val 2564"/>
            </a:avLst>
          </a:prstGeom>
          <a:solidFill>
            <a:srgbClr val="F6F8F4"/>
          </a:solidFill>
          <a:ln/>
        </p:spPr>
        <p:txBody>
          <a:bodyPr/>
          <a:lstStyle/>
          <a:p>
            <a:endParaRPr lang="ko-KR" altLang="en-US"/>
          </a:p>
        </p:txBody>
      </p:sp>
      <p:sp>
        <p:nvSpPr>
          <p:cNvPr id="5" name="Text 3"/>
          <p:cNvSpPr/>
          <p:nvPr/>
        </p:nvSpPr>
        <p:spPr>
          <a:xfrm>
            <a:off x="548640" y="1645920"/>
            <a:ext cx="5120640" cy="365760"/>
          </a:xfrm>
          <a:prstGeom prst="rect">
            <a:avLst/>
          </a:prstGeom>
          <a:noFill/>
          <a:ln/>
        </p:spPr>
        <p:txBody>
          <a:bodyPr wrap="square" rtlCol="0" anchor="ctr"/>
          <a:lstStyle/>
          <a:p>
            <a:pPr marL="0" indent="0" algn="ctr">
              <a:buNone/>
            </a:pPr>
            <a:r>
              <a:rPr lang="en-US" sz="1500" b="1" dirty="0">
                <a:solidFill>
                  <a:srgbClr val="1E4220"/>
                </a:solidFill>
                <a:latin typeface="맑은 고딕" pitchFamily="34" charset="0"/>
                <a:ea typeface="맑은 고딕" pitchFamily="34" charset="-122"/>
                <a:cs typeface="맑은 고딕" pitchFamily="34" charset="-120"/>
              </a:rPr>
              <a:t>로지스틱 회귀 — 직선 경계</a:t>
            </a:r>
            <a:endParaRPr lang="en-US" sz="1500" dirty="0"/>
          </a:p>
        </p:txBody>
      </p:sp>
      <p:sp>
        <p:nvSpPr>
          <p:cNvPr id="6" name="Shape 4"/>
          <p:cNvSpPr/>
          <p:nvPr/>
        </p:nvSpPr>
        <p:spPr>
          <a:xfrm>
            <a:off x="1097280" y="265176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7" name="Shape 5"/>
          <p:cNvSpPr/>
          <p:nvPr/>
        </p:nvSpPr>
        <p:spPr>
          <a:xfrm>
            <a:off x="1737360" y="301752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8" name="Shape 6"/>
          <p:cNvSpPr/>
          <p:nvPr/>
        </p:nvSpPr>
        <p:spPr>
          <a:xfrm>
            <a:off x="1280160" y="365760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9" name="Shape 7"/>
          <p:cNvSpPr/>
          <p:nvPr/>
        </p:nvSpPr>
        <p:spPr>
          <a:xfrm>
            <a:off x="2194560" y="274320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10" name="Shape 8"/>
          <p:cNvSpPr/>
          <p:nvPr/>
        </p:nvSpPr>
        <p:spPr>
          <a:xfrm>
            <a:off x="2743200" y="338328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11" name="Shape 9"/>
          <p:cNvSpPr/>
          <p:nvPr/>
        </p:nvSpPr>
        <p:spPr>
          <a:xfrm>
            <a:off x="4206240" y="448056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12" name="Shape 10"/>
          <p:cNvSpPr/>
          <p:nvPr/>
        </p:nvSpPr>
        <p:spPr>
          <a:xfrm>
            <a:off x="4754880" y="502920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13" name="Shape 11"/>
          <p:cNvSpPr/>
          <p:nvPr/>
        </p:nvSpPr>
        <p:spPr>
          <a:xfrm>
            <a:off x="3840480" y="521208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14" name="Shape 12"/>
          <p:cNvSpPr/>
          <p:nvPr/>
        </p:nvSpPr>
        <p:spPr>
          <a:xfrm>
            <a:off x="5029200" y="411480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15" name="Shape 13"/>
          <p:cNvSpPr/>
          <p:nvPr/>
        </p:nvSpPr>
        <p:spPr>
          <a:xfrm>
            <a:off x="4114800" y="384048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16" name="Shape 14"/>
          <p:cNvSpPr/>
          <p:nvPr/>
        </p:nvSpPr>
        <p:spPr>
          <a:xfrm>
            <a:off x="822960" y="2377440"/>
            <a:ext cx="4572000" cy="3017520"/>
          </a:xfrm>
          <a:prstGeom prst="line">
            <a:avLst/>
          </a:prstGeom>
          <a:noFill/>
          <a:ln w="31750">
            <a:solidFill>
              <a:srgbClr val="1E4220"/>
            </a:solidFill>
            <a:prstDash val="solid"/>
          </a:ln>
        </p:spPr>
        <p:txBody>
          <a:bodyPr/>
          <a:lstStyle/>
          <a:p>
            <a:endParaRPr lang="ko-KR" altLang="en-US"/>
          </a:p>
        </p:txBody>
      </p:sp>
      <p:sp>
        <p:nvSpPr>
          <p:cNvPr id="17" name="Shape 15"/>
          <p:cNvSpPr/>
          <p:nvPr/>
        </p:nvSpPr>
        <p:spPr>
          <a:xfrm>
            <a:off x="5943600" y="2103120"/>
            <a:ext cx="5120640" cy="3566160"/>
          </a:xfrm>
          <a:prstGeom prst="roundRect">
            <a:avLst>
              <a:gd name="adj" fmla="val 2564"/>
            </a:avLst>
          </a:prstGeom>
          <a:solidFill>
            <a:srgbClr val="F6F8F4"/>
          </a:solidFill>
          <a:ln/>
        </p:spPr>
        <p:txBody>
          <a:bodyPr/>
          <a:lstStyle/>
          <a:p>
            <a:endParaRPr lang="ko-KR" altLang="en-US"/>
          </a:p>
        </p:txBody>
      </p:sp>
      <p:sp>
        <p:nvSpPr>
          <p:cNvPr id="18" name="Text 16"/>
          <p:cNvSpPr/>
          <p:nvPr/>
        </p:nvSpPr>
        <p:spPr>
          <a:xfrm>
            <a:off x="5943600" y="1645920"/>
            <a:ext cx="5120640" cy="365760"/>
          </a:xfrm>
          <a:prstGeom prst="rect">
            <a:avLst/>
          </a:prstGeom>
          <a:noFill/>
          <a:ln/>
        </p:spPr>
        <p:txBody>
          <a:bodyPr wrap="square" rtlCol="0" anchor="ctr"/>
          <a:lstStyle/>
          <a:p>
            <a:pPr marL="0" indent="0" algn="ctr">
              <a:buNone/>
            </a:pPr>
            <a:r>
              <a:rPr lang="en-US" sz="1500" b="1" dirty="0">
                <a:solidFill>
                  <a:srgbClr val="1E4220"/>
                </a:solidFill>
                <a:latin typeface="맑은 고딕" pitchFamily="34" charset="0"/>
                <a:ea typeface="맑은 고딕" pitchFamily="34" charset="-122"/>
                <a:cs typeface="맑은 고딕" pitchFamily="34" charset="-120"/>
              </a:rPr>
              <a:t>의사결정나무 — 계단 경계</a:t>
            </a:r>
            <a:endParaRPr lang="en-US" sz="1500" dirty="0"/>
          </a:p>
        </p:txBody>
      </p:sp>
      <p:sp>
        <p:nvSpPr>
          <p:cNvPr id="19" name="Shape 17"/>
          <p:cNvSpPr/>
          <p:nvPr/>
        </p:nvSpPr>
        <p:spPr>
          <a:xfrm>
            <a:off x="6492240" y="265176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20" name="Shape 18"/>
          <p:cNvSpPr/>
          <p:nvPr/>
        </p:nvSpPr>
        <p:spPr>
          <a:xfrm>
            <a:off x="7132320" y="301752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21" name="Shape 19"/>
          <p:cNvSpPr/>
          <p:nvPr/>
        </p:nvSpPr>
        <p:spPr>
          <a:xfrm>
            <a:off x="6675120" y="365760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22" name="Shape 20"/>
          <p:cNvSpPr/>
          <p:nvPr/>
        </p:nvSpPr>
        <p:spPr>
          <a:xfrm>
            <a:off x="7589520" y="274320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23" name="Shape 21"/>
          <p:cNvSpPr/>
          <p:nvPr/>
        </p:nvSpPr>
        <p:spPr>
          <a:xfrm>
            <a:off x="8138160" y="3383280"/>
            <a:ext cx="164592" cy="164592"/>
          </a:xfrm>
          <a:prstGeom prst="ellipse">
            <a:avLst/>
          </a:prstGeom>
          <a:solidFill>
            <a:srgbClr val="97BC62"/>
          </a:solidFill>
          <a:ln w="9525">
            <a:solidFill>
              <a:srgbClr val="FFFFFF"/>
            </a:solidFill>
            <a:prstDash val="solid"/>
          </a:ln>
        </p:spPr>
        <p:txBody>
          <a:bodyPr/>
          <a:lstStyle/>
          <a:p>
            <a:endParaRPr lang="ko-KR" altLang="en-US"/>
          </a:p>
        </p:txBody>
      </p:sp>
      <p:sp>
        <p:nvSpPr>
          <p:cNvPr id="24" name="Shape 22"/>
          <p:cNvSpPr/>
          <p:nvPr/>
        </p:nvSpPr>
        <p:spPr>
          <a:xfrm>
            <a:off x="9601200" y="448056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25" name="Shape 23"/>
          <p:cNvSpPr/>
          <p:nvPr/>
        </p:nvSpPr>
        <p:spPr>
          <a:xfrm>
            <a:off x="10149840" y="502920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26" name="Shape 24"/>
          <p:cNvSpPr/>
          <p:nvPr/>
        </p:nvSpPr>
        <p:spPr>
          <a:xfrm>
            <a:off x="9235440" y="521208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27" name="Shape 25"/>
          <p:cNvSpPr/>
          <p:nvPr/>
        </p:nvSpPr>
        <p:spPr>
          <a:xfrm>
            <a:off x="10424160" y="411480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28" name="Shape 26"/>
          <p:cNvSpPr/>
          <p:nvPr/>
        </p:nvSpPr>
        <p:spPr>
          <a:xfrm>
            <a:off x="9509760" y="3840480"/>
            <a:ext cx="164592" cy="164592"/>
          </a:xfrm>
          <a:prstGeom prst="ellipse">
            <a:avLst/>
          </a:prstGeom>
          <a:solidFill>
            <a:srgbClr val="B8841E"/>
          </a:solidFill>
          <a:ln w="9525">
            <a:solidFill>
              <a:srgbClr val="FFFFFF"/>
            </a:solidFill>
            <a:prstDash val="solid"/>
          </a:ln>
        </p:spPr>
        <p:txBody>
          <a:bodyPr/>
          <a:lstStyle/>
          <a:p>
            <a:endParaRPr lang="ko-KR" altLang="en-US"/>
          </a:p>
        </p:txBody>
      </p:sp>
      <p:sp>
        <p:nvSpPr>
          <p:cNvPr id="29" name="Shape 27"/>
          <p:cNvSpPr/>
          <p:nvPr/>
        </p:nvSpPr>
        <p:spPr>
          <a:xfrm>
            <a:off x="6217920" y="2560320"/>
            <a:ext cx="1737360" cy="9144"/>
          </a:xfrm>
          <a:prstGeom prst="line">
            <a:avLst/>
          </a:prstGeom>
          <a:noFill/>
          <a:ln w="31750">
            <a:solidFill>
              <a:srgbClr val="1E4220"/>
            </a:solidFill>
            <a:prstDash val="solid"/>
          </a:ln>
        </p:spPr>
        <p:txBody>
          <a:bodyPr/>
          <a:lstStyle/>
          <a:p>
            <a:endParaRPr lang="ko-KR" altLang="en-US"/>
          </a:p>
        </p:txBody>
      </p:sp>
      <p:sp>
        <p:nvSpPr>
          <p:cNvPr id="30" name="Shape 28"/>
          <p:cNvSpPr/>
          <p:nvPr/>
        </p:nvSpPr>
        <p:spPr>
          <a:xfrm>
            <a:off x="7955280" y="2560320"/>
            <a:ext cx="9144" cy="1371600"/>
          </a:xfrm>
          <a:prstGeom prst="line">
            <a:avLst/>
          </a:prstGeom>
          <a:noFill/>
          <a:ln w="31750">
            <a:solidFill>
              <a:srgbClr val="1E4220"/>
            </a:solidFill>
            <a:prstDash val="solid"/>
          </a:ln>
        </p:spPr>
        <p:txBody>
          <a:bodyPr/>
          <a:lstStyle/>
          <a:p>
            <a:endParaRPr lang="ko-KR" altLang="en-US"/>
          </a:p>
        </p:txBody>
      </p:sp>
      <p:sp>
        <p:nvSpPr>
          <p:cNvPr id="31" name="Shape 29"/>
          <p:cNvSpPr/>
          <p:nvPr/>
        </p:nvSpPr>
        <p:spPr>
          <a:xfrm>
            <a:off x="7955280" y="3931920"/>
            <a:ext cx="1188720" cy="9144"/>
          </a:xfrm>
          <a:prstGeom prst="line">
            <a:avLst/>
          </a:prstGeom>
          <a:noFill/>
          <a:ln w="31750">
            <a:solidFill>
              <a:srgbClr val="1E4220"/>
            </a:solidFill>
            <a:prstDash val="solid"/>
          </a:ln>
        </p:spPr>
        <p:txBody>
          <a:bodyPr/>
          <a:lstStyle/>
          <a:p>
            <a:endParaRPr lang="ko-KR" altLang="en-US"/>
          </a:p>
        </p:txBody>
      </p:sp>
      <p:sp>
        <p:nvSpPr>
          <p:cNvPr id="32" name="Shape 30"/>
          <p:cNvSpPr/>
          <p:nvPr/>
        </p:nvSpPr>
        <p:spPr>
          <a:xfrm>
            <a:off x="9144000" y="3931920"/>
            <a:ext cx="9144" cy="1371600"/>
          </a:xfrm>
          <a:prstGeom prst="line">
            <a:avLst/>
          </a:prstGeom>
          <a:noFill/>
          <a:ln w="31750">
            <a:solidFill>
              <a:srgbClr val="1E4220"/>
            </a:solidFill>
            <a:prstDash val="solid"/>
          </a:ln>
        </p:spPr>
        <p:txBody>
          <a:bodyPr/>
          <a:lstStyle/>
          <a:p>
            <a:endParaRPr lang="ko-KR" altLang="en-US"/>
          </a:p>
        </p:txBody>
      </p:sp>
      <p:sp>
        <p:nvSpPr>
          <p:cNvPr id="33" name="Text 31"/>
          <p:cNvSpPr/>
          <p:nvPr/>
        </p:nvSpPr>
        <p:spPr>
          <a:xfrm>
            <a:off x="548640" y="5806440"/>
            <a:ext cx="11091672" cy="640080"/>
          </a:xfrm>
          <a:prstGeom prst="rect">
            <a:avLst/>
          </a:prstGeom>
          <a:noFill/>
          <a:ln/>
        </p:spPr>
        <p:txBody>
          <a:bodyPr wrap="square" rtlCol="0" anchor="ctr"/>
          <a:lstStyle/>
          <a:p>
            <a:pPr marL="0" indent="0" algn="ctr">
              <a:buNone/>
            </a:pPr>
            <a:r>
              <a:rPr lang="en-US" sz="1350" dirty="0">
                <a:solidFill>
                  <a:srgbClr val="27321F"/>
                </a:solidFill>
                <a:latin typeface="맑은 고딕" pitchFamily="34" charset="0"/>
                <a:ea typeface="맑은 고딕" pitchFamily="34" charset="-122"/>
                <a:cs typeface="맑은 고딕" pitchFamily="34" charset="-120"/>
              </a:rPr>
              <a:t>한 번에 한 피처를 기준으로 자르기 때문에, 트리는 축에 평행한 계단 모양 경계를 만듭니다 — 그래서 조합(교차) 패턴을 스스로 찾아냅니다.</a:t>
            </a:r>
            <a:endParaRPr lang="en-US" sz="1350" dirty="0"/>
          </a:p>
        </p:txBody>
      </p:sp>
      <p:sp>
        <p:nvSpPr>
          <p:cNvPr id="34" name="Text 32"/>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데이터로 확인해봅시다</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깊이를 키우면 무엇이 벌어지나 (예시 스키마)</a:t>
            </a:r>
            <a:endParaRPr lang="en-US" sz="2700" dirty="0"/>
          </a:p>
        </p:txBody>
      </p:sp>
      <p:graphicFrame>
        <p:nvGraphicFramePr>
          <p:cNvPr id="4" name="Chart 0"/>
          <p:cNvGraphicFramePr/>
          <p:nvPr/>
        </p:nvGraphicFramePr>
        <p:xfrm>
          <a:off x="548640" y="2011680"/>
          <a:ext cx="7982712"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805672" y="2377440"/>
            <a:ext cx="2834640" cy="2926080"/>
          </a:xfrm>
          <a:prstGeom prst="roundRect">
            <a:avLst>
              <a:gd name="adj" fmla="val 3226"/>
            </a:avLst>
          </a:prstGeom>
          <a:solidFill>
            <a:srgbClr val="E3EFD3"/>
          </a:solidFill>
          <a:ln/>
        </p:spPr>
        <p:txBody>
          <a:bodyPr/>
          <a:lstStyle/>
          <a:p>
            <a:endParaRPr lang="ko-KR" altLang="en-US"/>
          </a:p>
        </p:txBody>
      </p:sp>
      <p:sp>
        <p:nvSpPr>
          <p:cNvPr id="6" name="Text 3"/>
          <p:cNvSpPr/>
          <p:nvPr/>
        </p:nvSpPr>
        <p:spPr>
          <a:xfrm>
            <a:off x="8988552" y="2606040"/>
            <a:ext cx="2468880" cy="548640"/>
          </a:xfrm>
          <a:prstGeom prst="rect">
            <a:avLst/>
          </a:prstGeom>
          <a:noFill/>
          <a:ln/>
        </p:spPr>
        <p:txBody>
          <a:bodyPr wrap="square" rtlCol="0" anchor="ctr"/>
          <a:lstStyle/>
          <a:p>
            <a:pPr marL="0" indent="0">
              <a:buNone/>
            </a:pPr>
            <a:r>
              <a:rPr lang="en-US" sz="1600" b="1" dirty="0">
                <a:solidFill>
                  <a:srgbClr val="1E4220"/>
                </a:solidFill>
                <a:latin typeface="맑은 고딕" pitchFamily="34" charset="0"/>
                <a:ea typeface="맑은 고딕" pitchFamily="34" charset="-122"/>
                <a:cs typeface="맑은 고딕" pitchFamily="34" charset="-120"/>
              </a:rPr>
              <a:t>학습 점수만 보면 안 됩니다</a:t>
            </a:r>
            <a:endParaRPr lang="en-US" sz="1600" dirty="0"/>
          </a:p>
        </p:txBody>
      </p:sp>
      <p:sp>
        <p:nvSpPr>
          <p:cNvPr id="7" name="Text 4"/>
          <p:cNvSpPr/>
          <p:nvPr/>
        </p:nvSpPr>
        <p:spPr>
          <a:xfrm>
            <a:off x="8988552" y="3200400"/>
            <a:ext cx="2468880" cy="1920240"/>
          </a:xfrm>
          <a:prstGeom prst="rect">
            <a:avLst/>
          </a:prstGeom>
          <a:noFill/>
          <a:ln/>
        </p:spPr>
        <p:txBody>
          <a:bodyPr wrap="square" rtlCol="0" anchor="t"/>
          <a:lstStyle/>
          <a:p>
            <a:pPr marL="342900" indent="-342900">
              <a:spcAft>
                <a:spcPts val="800"/>
              </a:spcAft>
              <a:buSzPct val="100000"/>
              <a:buChar char="•"/>
            </a:pPr>
            <a:r>
              <a:rPr lang="en-US" sz="1250" dirty="0">
                <a:solidFill>
                  <a:srgbClr val="27321F"/>
                </a:solidFill>
                <a:latin typeface="맑은 고딕" pitchFamily="34" charset="0"/>
                <a:ea typeface="맑은 고딕" pitchFamily="34" charset="-122"/>
                <a:cs typeface="맑은 고딕" pitchFamily="34" charset="-120"/>
              </a:rPr>
              <a:t>학습 점수: 깊이가 커질수록 1.00까지 계속 오름</a:t>
            </a:r>
            <a:endParaRPr lang="en-US" sz="1250" dirty="0"/>
          </a:p>
          <a:p>
            <a:pPr marL="342900" indent="-342900">
              <a:spcAft>
                <a:spcPts val="800"/>
              </a:spcAft>
              <a:buSzPct val="100000"/>
              <a:buChar char="•"/>
            </a:pPr>
            <a:r>
              <a:rPr lang="en-US" sz="1250" dirty="0">
                <a:solidFill>
                  <a:srgbClr val="27321F"/>
                </a:solidFill>
                <a:latin typeface="맑은 고딕" pitchFamily="34" charset="0"/>
                <a:ea typeface="맑은 고딕" pitchFamily="34" charset="-122"/>
                <a:cs typeface="맑은 고딕" pitchFamily="34" charset="-120"/>
              </a:rPr>
              <a:t>테스트 점수: 어느 지점에서 꺾이거나 떨어짐</a:t>
            </a:r>
            <a:endParaRPr lang="en-US" sz="1250" dirty="0"/>
          </a:p>
          <a:p>
            <a:pPr marL="342900" indent="-342900">
              <a:spcAft>
                <a:spcPts val="800"/>
              </a:spcAft>
              <a:buSzPct val="100000"/>
              <a:buChar char="•"/>
            </a:pPr>
            <a:r>
              <a:rPr lang="en-US" sz="1250" b="1" dirty="0">
                <a:solidFill>
                  <a:srgbClr val="B8841E"/>
                </a:solidFill>
                <a:latin typeface="맑은 고딕" pitchFamily="34" charset="0"/>
                <a:ea typeface="맑은 고딕" pitchFamily="34" charset="-122"/>
                <a:cs typeface="맑은 고딕" pitchFamily="34" charset="-120"/>
              </a:rPr>
              <a:t>이 '격차'가 벌어지는 게 과적합의 증거</a:t>
            </a:r>
            <a:endParaRPr lang="en-US" sz="1250" dirty="0"/>
          </a:p>
        </p:txBody>
      </p:sp>
      <p:sp>
        <p:nvSpPr>
          <p:cNvPr id="8" name="Text 5"/>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4220"/>
        </a:solidFill>
        <a:effectLst/>
      </p:bgPr>
    </p:bg>
    <p:spTree>
      <p:nvGrpSpPr>
        <p:cNvPr id="1" name=""/>
        <p:cNvGrpSpPr/>
        <p:nvPr/>
      </p:nvGrpSpPr>
      <p:grpSpPr>
        <a:xfrm>
          <a:off x="0" y="0"/>
          <a:ext cx="0" cy="0"/>
          <a:chOff x="0" y="0"/>
          <a:chExt cx="0" cy="0"/>
        </a:xfrm>
      </p:grpSpPr>
      <p:sp>
        <p:nvSpPr>
          <p:cNvPr id="3" name="Text 1"/>
          <p:cNvSpPr/>
          <p:nvPr/>
        </p:nvSpPr>
        <p:spPr>
          <a:xfrm>
            <a:off x="548640" y="1554480"/>
            <a:ext cx="11091672" cy="1097280"/>
          </a:xfrm>
          <a:prstGeom prst="rect">
            <a:avLst/>
          </a:prstGeom>
          <a:noFill/>
          <a:ln/>
        </p:spPr>
        <p:txBody>
          <a:bodyPr wrap="square" rtlCol="0" anchor="ctr"/>
          <a:lstStyle/>
          <a:p>
            <a:pPr marL="0" indent="0" algn="ctr">
              <a:buNone/>
            </a:pPr>
            <a:r>
              <a:rPr lang="en-US" sz="4000" b="1" dirty="0">
                <a:solidFill>
                  <a:srgbClr val="FFFFFF"/>
                </a:solidFill>
                <a:latin typeface="맑은 고딕" pitchFamily="34" charset="0"/>
                <a:ea typeface="맑은 고딕" pitchFamily="34" charset="-122"/>
                <a:cs typeface="맑은 고딕" pitchFamily="34" charset="-120"/>
              </a:rPr>
              <a:t>과적합은 ‘격차’로 판정한다</a:t>
            </a:r>
            <a:endParaRPr lang="en-US" sz="4000" dirty="0"/>
          </a:p>
        </p:txBody>
      </p:sp>
      <p:sp>
        <p:nvSpPr>
          <p:cNvPr id="4" name="Shape 2"/>
          <p:cNvSpPr/>
          <p:nvPr/>
        </p:nvSpPr>
        <p:spPr>
          <a:xfrm>
            <a:off x="1645920" y="2926080"/>
            <a:ext cx="8897112" cy="2651760"/>
          </a:xfrm>
          <a:prstGeom prst="roundRect">
            <a:avLst>
              <a:gd name="adj" fmla="val 4138"/>
            </a:avLst>
          </a:prstGeom>
          <a:solidFill>
            <a:srgbClr val="27401F"/>
          </a:solidFill>
          <a:ln w="12700">
            <a:solidFill>
              <a:srgbClr val="97BC62"/>
            </a:solidFill>
            <a:prstDash val="solid"/>
          </a:ln>
        </p:spPr>
        <p:txBody>
          <a:bodyPr/>
          <a:lstStyle/>
          <a:p>
            <a:endParaRPr lang="ko-KR" altLang="en-US"/>
          </a:p>
        </p:txBody>
      </p:sp>
      <p:sp>
        <p:nvSpPr>
          <p:cNvPr id="5" name="Text 3"/>
          <p:cNvSpPr/>
          <p:nvPr/>
        </p:nvSpPr>
        <p:spPr>
          <a:xfrm>
            <a:off x="2011680" y="3200400"/>
            <a:ext cx="8165592" cy="1371600"/>
          </a:xfrm>
          <a:prstGeom prst="rect">
            <a:avLst/>
          </a:prstGeom>
          <a:noFill/>
          <a:ln/>
        </p:spPr>
        <p:txBody>
          <a:bodyPr wrap="square" rtlCol="0" anchor="ctr"/>
          <a:lstStyle/>
          <a:p>
            <a:pPr marL="0" indent="0" algn="ctr">
              <a:buNone/>
            </a:pPr>
            <a:r>
              <a:rPr lang="en-US" sz="1800" i="1" dirty="0">
                <a:solidFill>
                  <a:srgbClr val="E3EFD3"/>
                </a:solidFill>
                <a:latin typeface="맑은 고딕" pitchFamily="34" charset="0"/>
                <a:ea typeface="맑은 고딕" pitchFamily="34" charset="-122"/>
                <a:cs typeface="맑은 고딕" pitchFamily="34" charset="-120"/>
              </a:rPr>
              <a:t>학습 점수 하나가 아니라, 학습 vs 테스트 두 점수의 격차로 알아챈다.</a:t>
            </a:r>
            <a:endParaRPr lang="en-US" sz="1800" dirty="0"/>
          </a:p>
          <a:p>
            <a:pPr marL="0" indent="0" algn="ctr">
              <a:buNone/>
            </a:pPr>
            <a:r>
              <a:rPr lang="en-US" sz="1800" i="1" dirty="0">
                <a:solidFill>
                  <a:srgbClr val="E3EFD3"/>
                </a:solidFill>
                <a:latin typeface="맑은 고딕" pitchFamily="34" charset="0"/>
                <a:ea typeface="맑은 고딕" pitchFamily="34" charset="-122"/>
                <a:cs typeface="맑은 고딕" pitchFamily="34" charset="-120"/>
              </a:rPr>
              <a:t>트리는 깊게 캐물을수록 데이터를 외운다 — 그래서 깊이 제한(가지치기)으로 막는다.</a:t>
            </a:r>
            <a:endParaRPr lang="en-US" sz="1800" dirty="0"/>
          </a:p>
        </p:txBody>
      </p:sp>
      <p:sp>
        <p:nvSpPr>
          <p:cNvPr id="6" name="Text 4"/>
          <p:cNvSpPr/>
          <p:nvPr/>
        </p:nvSpPr>
        <p:spPr>
          <a:xfrm>
            <a:off x="2011680" y="4663440"/>
            <a:ext cx="8165592" cy="822960"/>
          </a:xfrm>
          <a:prstGeom prst="rect">
            <a:avLst/>
          </a:prstGeom>
          <a:noFill/>
          <a:ln/>
        </p:spPr>
        <p:txBody>
          <a:bodyPr wrap="square" rtlCol="0" anchor="ctr"/>
          <a:lstStyle/>
          <a:p>
            <a:pPr marL="0" indent="0" algn="ctr">
              <a:buNone/>
            </a:pPr>
            <a:r>
              <a:rPr lang="en-US" sz="1350" dirty="0">
                <a:solidFill>
                  <a:srgbClr val="C9D9BC"/>
                </a:solidFill>
                <a:latin typeface="맑은 고딕" pitchFamily="34" charset="0"/>
                <a:ea typeface="맑은 고딕" pitchFamily="34" charset="-122"/>
                <a:cs typeface="맑은 고딕" pitchFamily="34" charset="-120"/>
              </a:rPr>
              <a:t>벼락치기 학생 비유: 기출문제(학습)는 100점, 새 문제(테스트)</a:t>
            </a:r>
            <a:r>
              <a:rPr lang="en-US" sz="1350" dirty="0" err="1">
                <a:solidFill>
                  <a:srgbClr val="C9D9BC"/>
                </a:solidFill>
                <a:latin typeface="맑은 고딕" pitchFamily="34" charset="0"/>
                <a:ea typeface="맑은 고딕" pitchFamily="34" charset="-122"/>
                <a:cs typeface="맑은 고딕" pitchFamily="34" charset="-120"/>
              </a:rPr>
              <a:t>는</a:t>
            </a:r>
            <a:r>
              <a:rPr lang="en-US" sz="1350" dirty="0">
                <a:solidFill>
                  <a:srgbClr val="C9D9BC"/>
                </a:solidFill>
                <a:latin typeface="맑은 고딕" pitchFamily="34" charset="0"/>
                <a:ea typeface="맑은 고딕" pitchFamily="34" charset="-122"/>
                <a:cs typeface="맑은 고딕" pitchFamily="34" charset="-120"/>
              </a:rPr>
              <a:t> </a:t>
            </a:r>
            <a:r>
              <a:rPr lang="en-US" sz="1350" dirty="0" err="1">
                <a:solidFill>
                  <a:srgbClr val="C9D9BC"/>
                </a:solidFill>
                <a:latin typeface="맑은 고딕" pitchFamily="34" charset="0"/>
                <a:ea typeface="맑은 고딕" pitchFamily="34" charset="-122"/>
                <a:cs typeface="맑은 고딕" pitchFamily="34" charset="-120"/>
              </a:rPr>
              <a:t>무너진다</a:t>
            </a:r>
            <a:r>
              <a:rPr lang="en-US" altLang="ko-KR" sz="1350" dirty="0">
                <a:solidFill>
                  <a:srgbClr val="C9D9BC"/>
                </a:solidFill>
                <a:latin typeface="맑은 고딕" pitchFamily="34" charset="0"/>
                <a:ea typeface="맑은 고딕" pitchFamily="34" charset="-122"/>
                <a:cs typeface="맑은 고딕" pitchFamily="34" charset="-120"/>
              </a:rPr>
              <a:t>.</a:t>
            </a:r>
            <a:r>
              <a:rPr lang="en-US" sz="1350" dirty="0">
                <a:solidFill>
                  <a:srgbClr val="C9D9BC"/>
                </a:solidFill>
                <a:latin typeface="맑은 고딕" pitchFamily="34" charset="0"/>
                <a:ea typeface="맑은 고딕" pitchFamily="34" charset="-122"/>
                <a:cs typeface="맑은 고딕" pitchFamily="34" charset="-120"/>
              </a:rPr>
              <a:t> </a:t>
            </a:r>
          </a:p>
          <a:p>
            <a:pPr marL="0" indent="0" algn="ctr">
              <a:buNone/>
            </a:pPr>
            <a:r>
              <a:rPr lang="en-US" sz="1350" dirty="0">
                <a:solidFill>
                  <a:srgbClr val="C9D9BC"/>
                </a:solidFill>
                <a:latin typeface="맑은 고딕" pitchFamily="34" charset="0"/>
                <a:ea typeface="맑은 고딕" pitchFamily="34" charset="-122"/>
                <a:cs typeface="맑은 고딕" pitchFamily="34" charset="-120"/>
              </a:rPr>
              <a:t>— 우리가 원하는 건 개념을 이해해 새 문제도 푸는 학생(일반화).</a:t>
            </a:r>
            <a:endParaRPr lang="en-US" sz="1350" dirty="0"/>
          </a:p>
        </p:txBody>
      </p:sp>
      <p:sp>
        <p:nvSpPr>
          <p:cNvPr id="7" name="Text 5"/>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E3EFD3"/>
                </a:solidFill>
                <a:latin typeface="맑은 고딕" pitchFamily="34" charset="0"/>
                <a:ea typeface="맑은 고딕" pitchFamily="34" charset="-122"/>
                <a:cs typeface="맑은 고딕"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처방</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가지치기(Pruning) — 너무 꼬치꼬치 캐묻지 못하게</a:t>
            </a:r>
            <a:endParaRPr lang="en-US" sz="2700" dirty="0"/>
          </a:p>
        </p:txBody>
      </p:sp>
      <p:sp>
        <p:nvSpPr>
          <p:cNvPr id="4" name="Shape 2"/>
          <p:cNvSpPr/>
          <p:nvPr/>
        </p:nvSpPr>
        <p:spPr>
          <a:xfrm>
            <a:off x="548640" y="2240280"/>
            <a:ext cx="914400" cy="914400"/>
          </a:xfrm>
          <a:prstGeom prst="ellipse">
            <a:avLst/>
          </a:prstGeom>
          <a:solidFill>
            <a:srgbClr val="D9A62E"/>
          </a:solidFill>
          <a:ln/>
        </p:spPr>
        <p:txBody>
          <a:bodyPr/>
          <a:lstStyle/>
          <a:p>
            <a:endParaRPr lang="ko-KR" altLang="en-US"/>
          </a:p>
        </p:txBody>
      </p:sp>
      <p:sp>
        <p:nvSpPr>
          <p:cNvPr id="5" name="Text 3"/>
          <p:cNvSpPr/>
          <p:nvPr/>
        </p:nvSpPr>
        <p:spPr>
          <a:xfrm>
            <a:off x="548640" y="2240280"/>
            <a:ext cx="914400" cy="914400"/>
          </a:xfrm>
          <a:prstGeom prst="rect">
            <a:avLst/>
          </a:prstGeom>
          <a:noFill/>
          <a:ln/>
        </p:spPr>
        <p:txBody>
          <a:bodyPr wrap="square"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1</a:t>
            </a:r>
            <a:endParaRPr lang="en-US" sz="3000" dirty="0"/>
          </a:p>
        </p:txBody>
      </p:sp>
      <p:sp>
        <p:nvSpPr>
          <p:cNvPr id="6" name="Shape 4"/>
          <p:cNvSpPr/>
          <p:nvPr/>
        </p:nvSpPr>
        <p:spPr>
          <a:xfrm>
            <a:off x="1737360" y="2103120"/>
            <a:ext cx="9902952" cy="1371600"/>
          </a:xfrm>
          <a:prstGeom prst="roundRect">
            <a:avLst>
              <a:gd name="adj" fmla="val 6667"/>
            </a:avLst>
          </a:prstGeom>
          <a:solidFill>
            <a:srgbClr val="F6F8F4"/>
          </a:solidFill>
          <a:ln/>
        </p:spPr>
        <p:txBody>
          <a:bodyPr/>
          <a:lstStyle/>
          <a:p>
            <a:endParaRPr lang="ko-KR" altLang="en-US"/>
          </a:p>
        </p:txBody>
      </p:sp>
      <p:sp>
        <p:nvSpPr>
          <p:cNvPr id="7" name="Text 5"/>
          <p:cNvSpPr/>
          <p:nvPr/>
        </p:nvSpPr>
        <p:spPr>
          <a:xfrm>
            <a:off x="2011680" y="2240280"/>
            <a:ext cx="5486400" cy="457200"/>
          </a:xfrm>
          <a:prstGeom prst="rect">
            <a:avLst/>
          </a:prstGeom>
          <a:noFill/>
          <a:ln/>
        </p:spPr>
        <p:txBody>
          <a:bodyPr wrap="square" rtlCol="0" anchor="ctr"/>
          <a:lstStyle/>
          <a:p>
            <a:pPr marL="0" indent="0">
              <a:buNone/>
            </a:pPr>
            <a:r>
              <a:rPr lang="en-US" sz="1800" b="1" dirty="0">
                <a:solidFill>
                  <a:srgbClr val="1E4220"/>
                </a:solidFill>
                <a:latin typeface="맑은 고딕" pitchFamily="34" charset="0"/>
                <a:ea typeface="맑은 고딕" pitchFamily="34" charset="-122"/>
                <a:cs typeface="맑은 고딕" pitchFamily="34" charset="-120"/>
              </a:rPr>
              <a:t>max_depth</a:t>
            </a:r>
            <a:endParaRPr lang="en-US" sz="1800" dirty="0"/>
          </a:p>
        </p:txBody>
      </p:sp>
      <p:sp>
        <p:nvSpPr>
          <p:cNvPr id="8" name="Text 6"/>
          <p:cNvSpPr/>
          <p:nvPr/>
        </p:nvSpPr>
        <p:spPr>
          <a:xfrm>
            <a:off x="2011680" y="2697480"/>
            <a:ext cx="9079992" cy="685800"/>
          </a:xfrm>
          <a:prstGeom prst="rect">
            <a:avLst/>
          </a:prstGeom>
          <a:noFill/>
          <a:ln/>
        </p:spPr>
        <p:txBody>
          <a:bodyPr wrap="square" rtlCol="0" anchor="ctr"/>
          <a:lstStyle/>
          <a:p>
            <a:pPr marL="0" indent="0">
              <a:buNone/>
            </a:pPr>
            <a:r>
              <a:rPr lang="en-US" sz="1350" dirty="0">
                <a:solidFill>
                  <a:srgbClr val="27321F"/>
                </a:solidFill>
                <a:latin typeface="맑은 고딕" pitchFamily="34" charset="0"/>
                <a:ea typeface="맑은 고딕" pitchFamily="34" charset="-122"/>
                <a:cs typeface="맑은 고딕" pitchFamily="34" charset="-120"/>
              </a:rPr>
              <a:t>트리가 내려갈 수 있는 최대 깊이를 제한합니다.</a:t>
            </a:r>
            <a:endParaRPr lang="en-US" sz="1350" dirty="0"/>
          </a:p>
        </p:txBody>
      </p:sp>
      <p:sp>
        <p:nvSpPr>
          <p:cNvPr id="9" name="Shape 7"/>
          <p:cNvSpPr/>
          <p:nvPr/>
        </p:nvSpPr>
        <p:spPr>
          <a:xfrm>
            <a:off x="548640" y="3749040"/>
            <a:ext cx="914400" cy="914400"/>
          </a:xfrm>
          <a:prstGeom prst="ellipse">
            <a:avLst/>
          </a:prstGeom>
          <a:solidFill>
            <a:srgbClr val="97BC62"/>
          </a:solidFill>
          <a:ln/>
        </p:spPr>
        <p:txBody>
          <a:bodyPr/>
          <a:lstStyle/>
          <a:p>
            <a:endParaRPr lang="ko-KR" altLang="en-US"/>
          </a:p>
        </p:txBody>
      </p:sp>
      <p:sp>
        <p:nvSpPr>
          <p:cNvPr id="10" name="Text 8"/>
          <p:cNvSpPr/>
          <p:nvPr/>
        </p:nvSpPr>
        <p:spPr>
          <a:xfrm>
            <a:off x="548640" y="3749040"/>
            <a:ext cx="914400" cy="914400"/>
          </a:xfrm>
          <a:prstGeom prst="rect">
            <a:avLst/>
          </a:prstGeom>
          <a:noFill/>
          <a:ln/>
        </p:spPr>
        <p:txBody>
          <a:bodyPr wrap="square"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2</a:t>
            </a:r>
            <a:endParaRPr lang="en-US" sz="3000" dirty="0"/>
          </a:p>
        </p:txBody>
      </p:sp>
      <p:sp>
        <p:nvSpPr>
          <p:cNvPr id="11" name="Shape 9"/>
          <p:cNvSpPr/>
          <p:nvPr/>
        </p:nvSpPr>
        <p:spPr>
          <a:xfrm>
            <a:off x="1737360" y="3611880"/>
            <a:ext cx="9902952" cy="1371600"/>
          </a:xfrm>
          <a:prstGeom prst="roundRect">
            <a:avLst>
              <a:gd name="adj" fmla="val 6667"/>
            </a:avLst>
          </a:prstGeom>
          <a:solidFill>
            <a:srgbClr val="F6F8F4"/>
          </a:solidFill>
          <a:ln/>
        </p:spPr>
        <p:txBody>
          <a:bodyPr/>
          <a:lstStyle/>
          <a:p>
            <a:endParaRPr lang="ko-KR" altLang="en-US"/>
          </a:p>
        </p:txBody>
      </p:sp>
      <p:sp>
        <p:nvSpPr>
          <p:cNvPr id="12" name="Text 10"/>
          <p:cNvSpPr/>
          <p:nvPr/>
        </p:nvSpPr>
        <p:spPr>
          <a:xfrm>
            <a:off x="2011680" y="3749040"/>
            <a:ext cx="5486400" cy="457200"/>
          </a:xfrm>
          <a:prstGeom prst="rect">
            <a:avLst/>
          </a:prstGeom>
          <a:noFill/>
          <a:ln/>
        </p:spPr>
        <p:txBody>
          <a:bodyPr wrap="square" rtlCol="0" anchor="ctr"/>
          <a:lstStyle/>
          <a:p>
            <a:pPr marL="0" indent="0">
              <a:buNone/>
            </a:pPr>
            <a:r>
              <a:rPr lang="en-US" sz="1800" b="1" dirty="0">
                <a:solidFill>
                  <a:srgbClr val="1E4220"/>
                </a:solidFill>
                <a:latin typeface="맑은 고딕" pitchFamily="34" charset="0"/>
                <a:ea typeface="맑은 고딕" pitchFamily="34" charset="-122"/>
                <a:cs typeface="맑은 고딕" pitchFamily="34" charset="-120"/>
              </a:rPr>
              <a:t>min_samples_leaf</a:t>
            </a:r>
            <a:endParaRPr lang="en-US" sz="1800" dirty="0"/>
          </a:p>
        </p:txBody>
      </p:sp>
      <p:sp>
        <p:nvSpPr>
          <p:cNvPr id="13" name="Text 11"/>
          <p:cNvSpPr/>
          <p:nvPr/>
        </p:nvSpPr>
        <p:spPr>
          <a:xfrm>
            <a:off x="2011680" y="4206240"/>
            <a:ext cx="9079992" cy="685800"/>
          </a:xfrm>
          <a:prstGeom prst="rect">
            <a:avLst/>
          </a:prstGeom>
          <a:noFill/>
          <a:ln/>
        </p:spPr>
        <p:txBody>
          <a:bodyPr wrap="square" rtlCol="0" anchor="ctr"/>
          <a:lstStyle/>
          <a:p>
            <a:pPr marL="0" indent="0">
              <a:buNone/>
            </a:pPr>
            <a:r>
              <a:rPr lang="en-US" sz="1350" dirty="0">
                <a:solidFill>
                  <a:srgbClr val="27321F"/>
                </a:solidFill>
                <a:latin typeface="맑은 고딕" pitchFamily="34" charset="0"/>
                <a:ea typeface="맑은 고딕" pitchFamily="34" charset="-122"/>
                <a:cs typeface="맑은 고딕" pitchFamily="34" charset="-120"/>
              </a:rPr>
              <a:t>잎(leaf)이 가져야 할 최소 샘플 수를 정합니다.</a:t>
            </a:r>
            <a:endParaRPr lang="en-US" sz="1350" dirty="0"/>
          </a:p>
        </p:txBody>
      </p:sp>
      <p:sp>
        <p:nvSpPr>
          <p:cNvPr id="14" name="Shape 12"/>
          <p:cNvSpPr/>
          <p:nvPr/>
        </p:nvSpPr>
        <p:spPr>
          <a:xfrm>
            <a:off x="548640" y="5257800"/>
            <a:ext cx="914400" cy="914400"/>
          </a:xfrm>
          <a:prstGeom prst="ellipse">
            <a:avLst/>
          </a:prstGeom>
          <a:solidFill>
            <a:srgbClr val="97BC62"/>
          </a:solidFill>
          <a:ln/>
        </p:spPr>
        <p:txBody>
          <a:bodyPr/>
          <a:lstStyle/>
          <a:p>
            <a:endParaRPr lang="ko-KR" altLang="en-US"/>
          </a:p>
        </p:txBody>
      </p:sp>
      <p:sp>
        <p:nvSpPr>
          <p:cNvPr id="15" name="Text 13"/>
          <p:cNvSpPr/>
          <p:nvPr/>
        </p:nvSpPr>
        <p:spPr>
          <a:xfrm>
            <a:off x="548640" y="5257800"/>
            <a:ext cx="914400" cy="914400"/>
          </a:xfrm>
          <a:prstGeom prst="rect">
            <a:avLst/>
          </a:prstGeom>
          <a:noFill/>
          <a:ln/>
        </p:spPr>
        <p:txBody>
          <a:bodyPr wrap="square"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3</a:t>
            </a:r>
            <a:endParaRPr lang="en-US" sz="3000" dirty="0"/>
          </a:p>
        </p:txBody>
      </p:sp>
      <p:sp>
        <p:nvSpPr>
          <p:cNvPr id="16" name="Shape 14"/>
          <p:cNvSpPr/>
          <p:nvPr/>
        </p:nvSpPr>
        <p:spPr>
          <a:xfrm>
            <a:off x="1737360" y="5120640"/>
            <a:ext cx="9902952" cy="1371600"/>
          </a:xfrm>
          <a:prstGeom prst="roundRect">
            <a:avLst>
              <a:gd name="adj" fmla="val 6667"/>
            </a:avLst>
          </a:prstGeom>
          <a:solidFill>
            <a:srgbClr val="F6F8F4"/>
          </a:solidFill>
          <a:ln/>
        </p:spPr>
        <p:txBody>
          <a:bodyPr/>
          <a:lstStyle/>
          <a:p>
            <a:endParaRPr lang="ko-KR" altLang="en-US"/>
          </a:p>
        </p:txBody>
      </p:sp>
      <p:sp>
        <p:nvSpPr>
          <p:cNvPr id="17" name="Text 15"/>
          <p:cNvSpPr/>
          <p:nvPr/>
        </p:nvSpPr>
        <p:spPr>
          <a:xfrm>
            <a:off x="2011680" y="5257800"/>
            <a:ext cx="5486400" cy="457200"/>
          </a:xfrm>
          <a:prstGeom prst="rect">
            <a:avLst/>
          </a:prstGeom>
          <a:noFill/>
          <a:ln/>
        </p:spPr>
        <p:txBody>
          <a:bodyPr wrap="square" rtlCol="0" anchor="ctr"/>
          <a:lstStyle/>
          <a:p>
            <a:pPr marL="0" indent="0">
              <a:buNone/>
            </a:pPr>
            <a:r>
              <a:rPr lang="en-US" sz="1800" b="1" dirty="0">
                <a:solidFill>
                  <a:srgbClr val="1E4220"/>
                </a:solidFill>
                <a:latin typeface="맑은 고딕" pitchFamily="34" charset="0"/>
                <a:ea typeface="맑은 고딕" pitchFamily="34" charset="-122"/>
                <a:cs typeface="맑은 고딕" pitchFamily="34" charset="-120"/>
              </a:rPr>
              <a:t>max_leaf_nodes</a:t>
            </a:r>
            <a:endParaRPr lang="en-US" sz="1800" dirty="0"/>
          </a:p>
        </p:txBody>
      </p:sp>
      <p:sp>
        <p:nvSpPr>
          <p:cNvPr id="18" name="Text 16"/>
          <p:cNvSpPr/>
          <p:nvPr/>
        </p:nvSpPr>
        <p:spPr>
          <a:xfrm>
            <a:off x="2011680" y="5715000"/>
            <a:ext cx="9079992" cy="685800"/>
          </a:xfrm>
          <a:prstGeom prst="rect">
            <a:avLst/>
          </a:prstGeom>
          <a:noFill/>
          <a:ln/>
        </p:spPr>
        <p:txBody>
          <a:bodyPr wrap="square" rtlCol="0" anchor="ctr"/>
          <a:lstStyle/>
          <a:p>
            <a:pPr marL="0" indent="0">
              <a:buNone/>
            </a:pPr>
            <a:r>
              <a:rPr lang="en-US" sz="1350" dirty="0">
                <a:solidFill>
                  <a:srgbClr val="27321F"/>
                </a:solidFill>
                <a:latin typeface="맑은 고딕" pitchFamily="34" charset="0"/>
                <a:ea typeface="맑은 고딕" pitchFamily="34" charset="-122"/>
                <a:cs typeface="맑은 고딕" pitchFamily="34" charset="-120"/>
              </a:rPr>
              <a:t>트리가 가질 수 있는 최대 잎 개수를 제한합니다.</a:t>
            </a:r>
            <a:endParaRPr lang="en-US" sz="1350" dirty="0"/>
          </a:p>
        </p:txBody>
      </p:sp>
      <p:sp>
        <p:nvSpPr>
          <p:cNvPr id="19" name="Text 17"/>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예상 문제 1</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상황</a:t>
            </a:r>
            <a:endParaRPr lang="en-US" sz="2700" dirty="0"/>
          </a:p>
        </p:txBody>
      </p:sp>
      <p:sp>
        <p:nvSpPr>
          <p:cNvPr id="4" name="Shape 2"/>
          <p:cNvSpPr/>
          <p:nvPr/>
        </p:nvSpPr>
        <p:spPr>
          <a:xfrm>
            <a:off x="548640" y="2103120"/>
            <a:ext cx="11091672" cy="2377440"/>
          </a:xfrm>
          <a:prstGeom prst="roundRect">
            <a:avLst>
              <a:gd name="adj" fmla="val 3846"/>
            </a:avLst>
          </a:prstGeom>
          <a:solidFill>
            <a:srgbClr val="F6F8F4"/>
          </a:solidFill>
          <a:ln/>
        </p:spPr>
        <p:txBody>
          <a:bodyPr/>
          <a:lstStyle/>
          <a:p>
            <a:endParaRPr lang="ko-KR" altLang="en-US"/>
          </a:p>
        </p:txBody>
      </p:sp>
      <p:sp>
        <p:nvSpPr>
          <p:cNvPr id="5" name="Text 3"/>
          <p:cNvSpPr/>
          <p:nvPr/>
        </p:nvSpPr>
        <p:spPr>
          <a:xfrm>
            <a:off x="914400" y="2103120"/>
            <a:ext cx="10360152" cy="2377440"/>
          </a:xfrm>
          <a:prstGeom prst="rect">
            <a:avLst/>
          </a:prstGeom>
          <a:noFill/>
          <a:ln/>
        </p:spPr>
        <p:txBody>
          <a:bodyPr wrap="square" rtlCol="0" anchor="ctr"/>
          <a:lstStyle/>
          <a:p>
            <a:pPr marL="0" indent="0">
              <a:lnSpc>
                <a:spcPct val="125000"/>
              </a:lnSpc>
              <a:buNone/>
            </a:pPr>
            <a:r>
              <a:rPr lang="en-US" sz="1600" dirty="0">
                <a:solidFill>
                  <a:srgbClr val="27321F"/>
                </a:solidFill>
                <a:latin typeface="맑은 고딕" pitchFamily="34" charset="0"/>
                <a:ea typeface="맑은 고딕" pitchFamily="34" charset="-122"/>
                <a:cs typeface="맑은 고딕" pitchFamily="34" charset="-120"/>
              </a:rPr>
              <a:t>한 온라인 쇼핑몰 데이터팀 주니어가 "이 주문이 반품될지"를 예측하는 의사결정나무를 만들고 나서 이렇게 보고했습니다.</a:t>
            </a:r>
            <a:endParaRPr lang="en-US" sz="1600" dirty="0"/>
          </a:p>
          <a:p>
            <a:pPr marL="0" indent="0">
              <a:lnSpc>
                <a:spcPct val="125000"/>
              </a:lnSpc>
              <a:buNone/>
            </a:pPr>
            <a:endParaRPr lang="en-US" sz="1600" dirty="0"/>
          </a:p>
          <a:p>
            <a:pPr marL="0" indent="0">
              <a:lnSpc>
                <a:spcPct val="125000"/>
              </a:lnSpc>
              <a:buNone/>
            </a:pPr>
            <a:r>
              <a:rPr lang="en-US" sz="1600" dirty="0">
                <a:solidFill>
                  <a:srgbClr val="27321F"/>
                </a:solidFill>
                <a:latin typeface="맑은 고딕" pitchFamily="34" charset="0"/>
                <a:ea typeface="맑은 고딕" pitchFamily="34" charset="-122"/>
                <a:cs typeface="맑은 고딕" pitchFamily="34" charset="-120"/>
              </a:rPr>
              <a:t>"학습 데이터 정확도가 99%나 나왔어요! 바로 배포하죠."</a:t>
            </a:r>
            <a:endParaRPr lang="en-US" sz="1600" dirty="0"/>
          </a:p>
        </p:txBody>
      </p:sp>
      <p:sp>
        <p:nvSpPr>
          <p:cNvPr id="6" name="Shape 4"/>
          <p:cNvSpPr/>
          <p:nvPr/>
        </p:nvSpPr>
        <p:spPr>
          <a:xfrm>
            <a:off x="548640" y="4709160"/>
            <a:ext cx="11091672" cy="1417320"/>
          </a:xfrm>
          <a:prstGeom prst="roundRect">
            <a:avLst>
              <a:gd name="adj" fmla="val 6452"/>
            </a:avLst>
          </a:prstGeom>
          <a:solidFill>
            <a:srgbClr val="2C5F2D"/>
          </a:solidFill>
          <a:ln/>
        </p:spPr>
        <p:txBody>
          <a:bodyPr/>
          <a:lstStyle/>
          <a:p>
            <a:endParaRPr lang="ko-KR" altLang="en-US"/>
          </a:p>
        </p:txBody>
      </p:sp>
      <p:sp>
        <p:nvSpPr>
          <p:cNvPr id="7" name="Text 5"/>
          <p:cNvSpPr/>
          <p:nvPr/>
        </p:nvSpPr>
        <p:spPr>
          <a:xfrm>
            <a:off x="914400" y="4846320"/>
            <a:ext cx="1828800" cy="365760"/>
          </a:xfrm>
          <a:prstGeom prst="rect">
            <a:avLst/>
          </a:prstGeom>
          <a:noFill/>
          <a:ln/>
        </p:spPr>
        <p:txBody>
          <a:bodyPr wrap="square" rtlCol="0" anchor="ctr"/>
          <a:lstStyle/>
          <a:p>
            <a:pPr marL="0" indent="0">
              <a:buNone/>
            </a:pPr>
            <a:r>
              <a:rPr lang="en-US" sz="1200" b="1" kern="0" spc="150" dirty="0">
                <a:solidFill>
                  <a:srgbClr val="D9A62E"/>
                </a:solidFill>
                <a:latin typeface="맑은 고딕" pitchFamily="34" charset="0"/>
                <a:ea typeface="맑은 고딕" pitchFamily="34" charset="-122"/>
                <a:cs typeface="맑은 고딕" pitchFamily="34" charset="-120"/>
              </a:rPr>
              <a:t>문제</a:t>
            </a:r>
            <a:endParaRPr lang="en-US" sz="1200" dirty="0"/>
          </a:p>
        </p:txBody>
      </p:sp>
      <p:sp>
        <p:nvSpPr>
          <p:cNvPr id="8" name="Text 6"/>
          <p:cNvSpPr/>
          <p:nvPr/>
        </p:nvSpPr>
        <p:spPr>
          <a:xfrm>
            <a:off x="914400" y="5120640"/>
            <a:ext cx="10360152" cy="914400"/>
          </a:xfrm>
          <a:prstGeom prst="rect">
            <a:avLst/>
          </a:prstGeom>
          <a:noFill/>
          <a:ln/>
        </p:spPr>
        <p:txBody>
          <a:bodyPr wrap="square" rtlCol="0" anchor="ct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이 보고를 그대로 믿고 배포해도 될까요? 배포 전에 무엇을 먼저 확인해야 하고, 그 이유는 무엇인가요?</a:t>
            </a:r>
            <a:endParaRPr lang="en-US" sz="1700" dirty="0"/>
          </a:p>
        </p:txBody>
      </p:sp>
      <p:sp>
        <p:nvSpPr>
          <p:cNvPr id="9" name="Text 7"/>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3EFD3"/>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예상 문제 1</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해설 — 이런 판단과 이유면 좋습니다</a:t>
            </a:r>
            <a:endParaRPr lang="en-US" sz="2700" dirty="0"/>
          </a:p>
        </p:txBody>
      </p:sp>
      <p:sp>
        <p:nvSpPr>
          <p:cNvPr id="4" name="Shape 2"/>
          <p:cNvSpPr/>
          <p:nvPr/>
        </p:nvSpPr>
        <p:spPr>
          <a:xfrm>
            <a:off x="548640" y="2148840"/>
            <a:ext cx="11091672" cy="960120"/>
          </a:xfrm>
          <a:prstGeom prst="roundRect">
            <a:avLst>
              <a:gd name="adj" fmla="val 9524"/>
            </a:avLst>
          </a:prstGeom>
          <a:solidFill>
            <a:srgbClr val="FFFFFF"/>
          </a:solidFill>
          <a:ln/>
        </p:spPr>
        <p:txBody>
          <a:bodyPr/>
          <a:lstStyle/>
          <a:p>
            <a:endParaRPr lang="ko-KR" altLang="en-US"/>
          </a:p>
        </p:txBody>
      </p:sp>
      <p:sp>
        <p:nvSpPr>
          <p:cNvPr id="5" name="Shape 3"/>
          <p:cNvSpPr/>
          <p:nvPr/>
        </p:nvSpPr>
        <p:spPr>
          <a:xfrm>
            <a:off x="777240" y="2464308"/>
            <a:ext cx="329184" cy="329184"/>
          </a:xfrm>
          <a:prstGeom prst="ellipse">
            <a:avLst/>
          </a:prstGeom>
          <a:solidFill>
            <a:srgbClr val="D9A62E"/>
          </a:solidFill>
          <a:ln/>
        </p:spPr>
        <p:txBody>
          <a:bodyPr/>
          <a:lstStyle/>
          <a:p>
            <a:endParaRPr lang="ko-KR" altLang="en-US"/>
          </a:p>
        </p:txBody>
      </p:sp>
      <p:sp>
        <p:nvSpPr>
          <p:cNvPr id="6" name="Text 4"/>
          <p:cNvSpPr/>
          <p:nvPr/>
        </p:nvSpPr>
        <p:spPr>
          <a:xfrm>
            <a:off x="777240" y="2464308"/>
            <a:ext cx="329184" cy="329184"/>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7" name="Text 5"/>
          <p:cNvSpPr/>
          <p:nvPr/>
        </p:nvSpPr>
        <p:spPr>
          <a:xfrm>
            <a:off x="1325880" y="2148840"/>
            <a:ext cx="9994392" cy="960120"/>
          </a:xfrm>
          <a:prstGeom prst="rect">
            <a:avLst/>
          </a:prstGeom>
          <a:noFill/>
          <a:ln/>
        </p:spPr>
        <p:txBody>
          <a:bodyPr wrap="square" rtlCol="0" anchor="ctr"/>
          <a:lstStyle/>
          <a:p>
            <a:pPr marL="0" indent="0">
              <a:buNone/>
            </a:pPr>
            <a:r>
              <a:rPr lang="en-US" sz="1400" dirty="0">
                <a:solidFill>
                  <a:srgbClr val="27321F"/>
                </a:solidFill>
                <a:latin typeface="맑은 고딕" pitchFamily="34" charset="0"/>
                <a:ea typeface="맑은 고딕" pitchFamily="34" charset="-122"/>
                <a:cs typeface="맑은 고딕" pitchFamily="34" charset="-120"/>
              </a:rPr>
              <a:t>학습 정확도 하나만으로는 판단할 수 없다 — 그건 '본 문제'를 얼마나 잘 외웠는지일 뿐이다.</a:t>
            </a:r>
            <a:endParaRPr lang="en-US" sz="1400" dirty="0"/>
          </a:p>
        </p:txBody>
      </p:sp>
      <p:sp>
        <p:nvSpPr>
          <p:cNvPr id="8" name="Shape 6"/>
          <p:cNvSpPr/>
          <p:nvPr/>
        </p:nvSpPr>
        <p:spPr>
          <a:xfrm>
            <a:off x="548640" y="3273552"/>
            <a:ext cx="11091672" cy="960120"/>
          </a:xfrm>
          <a:prstGeom prst="roundRect">
            <a:avLst>
              <a:gd name="adj" fmla="val 9524"/>
            </a:avLst>
          </a:prstGeom>
          <a:solidFill>
            <a:srgbClr val="FFFFFF"/>
          </a:solidFill>
          <a:ln/>
        </p:spPr>
        <p:txBody>
          <a:bodyPr/>
          <a:lstStyle/>
          <a:p>
            <a:endParaRPr lang="ko-KR" altLang="en-US"/>
          </a:p>
        </p:txBody>
      </p:sp>
      <p:sp>
        <p:nvSpPr>
          <p:cNvPr id="9" name="Shape 7"/>
          <p:cNvSpPr/>
          <p:nvPr/>
        </p:nvSpPr>
        <p:spPr>
          <a:xfrm>
            <a:off x="777240" y="3589020"/>
            <a:ext cx="329184" cy="329184"/>
          </a:xfrm>
          <a:prstGeom prst="ellipse">
            <a:avLst/>
          </a:prstGeom>
          <a:solidFill>
            <a:srgbClr val="97BC62"/>
          </a:solidFill>
          <a:ln/>
        </p:spPr>
        <p:txBody>
          <a:bodyPr/>
          <a:lstStyle/>
          <a:p>
            <a:endParaRPr lang="ko-KR" altLang="en-US"/>
          </a:p>
        </p:txBody>
      </p:sp>
      <p:sp>
        <p:nvSpPr>
          <p:cNvPr id="10" name="Text 8"/>
          <p:cNvSpPr/>
          <p:nvPr/>
        </p:nvSpPr>
        <p:spPr>
          <a:xfrm>
            <a:off x="777240" y="3589020"/>
            <a:ext cx="329184" cy="329184"/>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11" name="Text 9"/>
          <p:cNvSpPr/>
          <p:nvPr/>
        </p:nvSpPr>
        <p:spPr>
          <a:xfrm>
            <a:off x="1325880" y="3273552"/>
            <a:ext cx="9994392" cy="960120"/>
          </a:xfrm>
          <a:prstGeom prst="rect">
            <a:avLst/>
          </a:prstGeom>
          <a:noFill/>
          <a:ln/>
        </p:spPr>
        <p:txBody>
          <a:bodyPr wrap="square" rtlCol="0" anchor="ctr"/>
          <a:lstStyle/>
          <a:p>
            <a:pPr marL="0" indent="0">
              <a:buNone/>
            </a:pPr>
            <a:r>
              <a:rPr lang="en-US" sz="1400" dirty="0">
                <a:solidFill>
                  <a:srgbClr val="27321F"/>
                </a:solidFill>
                <a:latin typeface="맑은 고딕" pitchFamily="34" charset="0"/>
                <a:ea typeface="맑은 고딕" pitchFamily="34" charset="-122"/>
                <a:cs typeface="맑은 고딕" pitchFamily="34" charset="-120"/>
              </a:rPr>
              <a:t>배포 전 반드시 테스트(한 번도 안 본) 데이터 점수를 함께 확인하고, 두 점수의 격차를 봐야 한다.</a:t>
            </a:r>
            <a:endParaRPr lang="en-US" sz="1400" dirty="0"/>
          </a:p>
        </p:txBody>
      </p:sp>
      <p:sp>
        <p:nvSpPr>
          <p:cNvPr id="12" name="Shape 10"/>
          <p:cNvSpPr/>
          <p:nvPr/>
        </p:nvSpPr>
        <p:spPr>
          <a:xfrm>
            <a:off x="548640" y="4398264"/>
            <a:ext cx="11091672" cy="960120"/>
          </a:xfrm>
          <a:prstGeom prst="roundRect">
            <a:avLst>
              <a:gd name="adj" fmla="val 9524"/>
            </a:avLst>
          </a:prstGeom>
          <a:solidFill>
            <a:srgbClr val="FFFFFF"/>
          </a:solidFill>
          <a:ln/>
        </p:spPr>
        <p:txBody>
          <a:bodyPr/>
          <a:lstStyle/>
          <a:p>
            <a:endParaRPr lang="ko-KR" altLang="en-US"/>
          </a:p>
        </p:txBody>
      </p:sp>
      <p:sp>
        <p:nvSpPr>
          <p:cNvPr id="13" name="Shape 11"/>
          <p:cNvSpPr/>
          <p:nvPr/>
        </p:nvSpPr>
        <p:spPr>
          <a:xfrm>
            <a:off x="777240" y="4713732"/>
            <a:ext cx="329184" cy="329184"/>
          </a:xfrm>
          <a:prstGeom prst="ellipse">
            <a:avLst/>
          </a:prstGeom>
          <a:solidFill>
            <a:srgbClr val="97BC62"/>
          </a:solidFill>
          <a:ln/>
        </p:spPr>
        <p:txBody>
          <a:bodyPr/>
          <a:lstStyle/>
          <a:p>
            <a:endParaRPr lang="ko-KR" altLang="en-US"/>
          </a:p>
        </p:txBody>
      </p:sp>
      <p:sp>
        <p:nvSpPr>
          <p:cNvPr id="14" name="Text 12"/>
          <p:cNvSpPr/>
          <p:nvPr/>
        </p:nvSpPr>
        <p:spPr>
          <a:xfrm>
            <a:off x="777240" y="4713732"/>
            <a:ext cx="329184" cy="329184"/>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15" name="Text 13"/>
          <p:cNvSpPr/>
          <p:nvPr/>
        </p:nvSpPr>
        <p:spPr>
          <a:xfrm>
            <a:off x="1325880" y="4398264"/>
            <a:ext cx="9994392" cy="960120"/>
          </a:xfrm>
          <a:prstGeom prst="rect">
            <a:avLst/>
          </a:prstGeom>
          <a:noFill/>
          <a:ln/>
        </p:spPr>
        <p:txBody>
          <a:bodyPr wrap="square" rtlCol="0" anchor="ctr"/>
          <a:lstStyle/>
          <a:p>
            <a:pPr marL="0" indent="0">
              <a:buNone/>
            </a:pPr>
            <a:r>
              <a:rPr lang="en-US" sz="1400" dirty="0">
                <a:solidFill>
                  <a:srgbClr val="27321F"/>
                </a:solidFill>
                <a:latin typeface="맑은 고딕" pitchFamily="34" charset="0"/>
                <a:ea typeface="맑은 고딕" pitchFamily="34" charset="-122"/>
                <a:cs typeface="맑은 고딕" pitchFamily="34" charset="-120"/>
              </a:rPr>
              <a:t>격차가 크면(예: 학습 0.99 / 테스트 0.75) 과적합을 의심 — max_depth·min_samples_leaf 같은 가지치기로 다시 학습해야 한다.</a:t>
            </a:r>
            <a:endParaRPr lang="en-US" sz="1400" dirty="0"/>
          </a:p>
        </p:txBody>
      </p:sp>
      <p:sp>
        <p:nvSpPr>
          <p:cNvPr id="16" name="Text 14"/>
          <p:cNvSpPr/>
          <p:nvPr/>
        </p:nvSpPr>
        <p:spPr>
          <a:xfrm>
            <a:off x="548640" y="5989320"/>
            <a:ext cx="11091672" cy="502920"/>
          </a:xfrm>
          <a:prstGeom prst="rect">
            <a:avLst/>
          </a:prstGeom>
          <a:noFill/>
          <a:ln/>
        </p:spPr>
        <p:txBody>
          <a:bodyPr wrap="square" rtlCol="0" anchor="ctr"/>
          <a:lstStyle/>
          <a:p>
            <a:pPr marL="0" indent="0">
              <a:buNone/>
            </a:pPr>
            <a:r>
              <a:rPr lang="en-US" sz="1250" i="1" dirty="0">
                <a:solidFill>
                  <a:srgbClr val="5A6B4E"/>
                </a:solidFill>
                <a:latin typeface="맑은 고딕" pitchFamily="34" charset="0"/>
                <a:ea typeface="맑은 고딕" pitchFamily="34" charset="-122"/>
                <a:cs typeface="맑은 고딕" pitchFamily="34" charset="-120"/>
              </a:rPr>
              <a:t>포인트: '학습 점수 하나'가 아니라 '학습-테스트 격차'로 판정한다는 것을 스스로 말할 수 있으면 정답입니다.</a:t>
            </a:r>
            <a:endParaRPr lang="en-US" sz="1250" dirty="0"/>
          </a:p>
        </p:txBody>
      </p:sp>
      <p:sp>
        <p:nvSpPr>
          <p:cNvPr id="17" name="Text 15"/>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예상 문제 2</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상황</a:t>
            </a:r>
            <a:endParaRPr lang="en-US" sz="2700" dirty="0"/>
          </a:p>
        </p:txBody>
      </p:sp>
      <p:sp>
        <p:nvSpPr>
          <p:cNvPr id="4" name="Shape 2"/>
          <p:cNvSpPr/>
          <p:nvPr/>
        </p:nvSpPr>
        <p:spPr>
          <a:xfrm>
            <a:off x="548640" y="2103120"/>
            <a:ext cx="11091672" cy="2377440"/>
          </a:xfrm>
          <a:prstGeom prst="roundRect">
            <a:avLst>
              <a:gd name="adj" fmla="val 3846"/>
            </a:avLst>
          </a:prstGeom>
          <a:solidFill>
            <a:srgbClr val="F6F8F4"/>
          </a:solidFill>
          <a:ln/>
        </p:spPr>
        <p:txBody>
          <a:bodyPr/>
          <a:lstStyle/>
          <a:p>
            <a:endParaRPr lang="ko-KR" altLang="en-US"/>
          </a:p>
        </p:txBody>
      </p:sp>
      <p:sp>
        <p:nvSpPr>
          <p:cNvPr id="5" name="Text 3"/>
          <p:cNvSpPr/>
          <p:nvPr/>
        </p:nvSpPr>
        <p:spPr>
          <a:xfrm>
            <a:off x="914400" y="2103120"/>
            <a:ext cx="10360152" cy="2377440"/>
          </a:xfrm>
          <a:prstGeom prst="rect">
            <a:avLst/>
          </a:prstGeom>
          <a:noFill/>
          <a:ln/>
        </p:spPr>
        <p:txBody>
          <a:bodyPr wrap="square" rtlCol="0" anchor="ctr"/>
          <a:lstStyle/>
          <a:p>
            <a:pPr marL="0" indent="0">
              <a:lnSpc>
                <a:spcPct val="125000"/>
              </a:lnSpc>
              <a:buNone/>
            </a:pPr>
            <a:r>
              <a:rPr lang="en-US" sz="1600" dirty="0">
                <a:solidFill>
                  <a:srgbClr val="27321F"/>
                </a:solidFill>
                <a:latin typeface="맑은 고딕" pitchFamily="34" charset="0"/>
                <a:ea typeface="맑은 고딕" pitchFamily="34" charset="-122"/>
                <a:cs typeface="맑은 고딕" pitchFamily="34" charset="-120"/>
              </a:rPr>
              <a:t>이커머스 CS팀장이 이런 현장 감을 전했습니다.</a:t>
            </a:r>
            <a:endParaRPr lang="en-US" sz="1600" dirty="0"/>
          </a:p>
          <a:p>
            <a:pPr marL="0" indent="0">
              <a:lnSpc>
                <a:spcPct val="125000"/>
              </a:lnSpc>
              <a:buNone/>
            </a:pPr>
            <a:endParaRPr lang="en-US" sz="1600" dirty="0"/>
          </a:p>
          <a:p>
            <a:pPr marL="0" indent="0">
              <a:lnSpc>
                <a:spcPct val="125000"/>
              </a:lnSpc>
              <a:buNone/>
            </a:pPr>
            <a:r>
              <a:rPr lang="en-US" sz="1600" dirty="0">
                <a:solidFill>
                  <a:srgbClr val="27321F"/>
                </a:solidFill>
                <a:latin typeface="맑은 고딕" pitchFamily="34" charset="0"/>
                <a:ea typeface="맑은 고딕" pitchFamily="34" charset="-122"/>
                <a:cs typeface="맑은 고딕" pitchFamily="34" charset="-120"/>
              </a:rPr>
              <a:t>"첫 구매 후 30일 안에 문의가 2건 이상 들어온 고객은 환불 요청으로 이어지는 경우가 많아요. 그런데 이미 5번 넘게 구매한 단골 고객의 문의 2건은 딱히 문제 신호가 아니더라고요."</a:t>
            </a:r>
            <a:endParaRPr lang="en-US" sz="1600" dirty="0"/>
          </a:p>
          <a:p>
            <a:pPr marL="0" indent="0">
              <a:lnSpc>
                <a:spcPct val="125000"/>
              </a:lnSpc>
              <a:buNone/>
            </a:pPr>
            <a:endParaRPr lang="en-US" sz="1600" dirty="0"/>
          </a:p>
          <a:p>
            <a:pPr marL="0" indent="0">
              <a:lnSpc>
                <a:spcPct val="125000"/>
              </a:lnSpc>
              <a:buNone/>
            </a:pPr>
            <a:r>
              <a:rPr lang="en-US" sz="1600" dirty="0">
                <a:solidFill>
                  <a:srgbClr val="27321F"/>
                </a:solidFill>
                <a:latin typeface="맑은 고딕" pitchFamily="34" charset="0"/>
                <a:ea typeface="맑은 고딕" pitchFamily="34" charset="-122"/>
                <a:cs typeface="맑은 고딕" pitchFamily="34" charset="-120"/>
              </a:rPr>
              <a:t>데이터팀은 로지스틱 회귀로 '환불 여부'를 예측하고 있었는데, 이 패턴이 모델에 잘 안 잡힌다는 걸 발견했습니다.</a:t>
            </a:r>
            <a:endParaRPr lang="en-US" sz="1600" dirty="0"/>
          </a:p>
        </p:txBody>
      </p:sp>
      <p:sp>
        <p:nvSpPr>
          <p:cNvPr id="6" name="Shape 4"/>
          <p:cNvSpPr/>
          <p:nvPr/>
        </p:nvSpPr>
        <p:spPr>
          <a:xfrm>
            <a:off x="548640" y="4709160"/>
            <a:ext cx="11091672" cy="1417320"/>
          </a:xfrm>
          <a:prstGeom prst="roundRect">
            <a:avLst>
              <a:gd name="adj" fmla="val 6452"/>
            </a:avLst>
          </a:prstGeom>
          <a:solidFill>
            <a:srgbClr val="2C5F2D"/>
          </a:solidFill>
          <a:ln/>
        </p:spPr>
        <p:txBody>
          <a:bodyPr/>
          <a:lstStyle/>
          <a:p>
            <a:endParaRPr lang="ko-KR" altLang="en-US"/>
          </a:p>
        </p:txBody>
      </p:sp>
      <p:sp>
        <p:nvSpPr>
          <p:cNvPr id="7" name="Text 5"/>
          <p:cNvSpPr/>
          <p:nvPr/>
        </p:nvSpPr>
        <p:spPr>
          <a:xfrm>
            <a:off x="914400" y="4846320"/>
            <a:ext cx="1828800" cy="365760"/>
          </a:xfrm>
          <a:prstGeom prst="rect">
            <a:avLst/>
          </a:prstGeom>
          <a:noFill/>
          <a:ln/>
        </p:spPr>
        <p:txBody>
          <a:bodyPr wrap="square" rtlCol="0" anchor="ctr"/>
          <a:lstStyle/>
          <a:p>
            <a:pPr marL="0" indent="0">
              <a:buNone/>
            </a:pPr>
            <a:r>
              <a:rPr lang="en-US" sz="1200" b="1" kern="0" spc="150" dirty="0">
                <a:solidFill>
                  <a:srgbClr val="D9A62E"/>
                </a:solidFill>
                <a:latin typeface="맑은 고딕" pitchFamily="34" charset="0"/>
                <a:ea typeface="맑은 고딕" pitchFamily="34" charset="-122"/>
                <a:cs typeface="맑은 고딕" pitchFamily="34" charset="-120"/>
              </a:rPr>
              <a:t>문제</a:t>
            </a:r>
            <a:endParaRPr lang="en-US" sz="1200" dirty="0"/>
          </a:p>
        </p:txBody>
      </p:sp>
      <p:sp>
        <p:nvSpPr>
          <p:cNvPr id="8" name="Text 6"/>
          <p:cNvSpPr/>
          <p:nvPr/>
        </p:nvSpPr>
        <p:spPr>
          <a:xfrm>
            <a:off x="914400" y="5120640"/>
            <a:ext cx="10360152" cy="914400"/>
          </a:xfrm>
          <a:prstGeom prst="rect">
            <a:avLst/>
          </a:prstGeom>
          <a:noFill/>
          <a:ln/>
        </p:spPr>
        <p:txBody>
          <a:bodyPr wrap="square" rtlCol="0" anchor="ct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왜 로지스틱 회귀는 이 패턴을 잘 못 잡을까요? 의사결정나무라면 '분할변수'와 '분할점'을 써서 이걸 어떻게 잡아내는지 설명해보세요.</a:t>
            </a:r>
            <a:endParaRPr lang="en-US" sz="1700" dirty="0"/>
          </a:p>
        </p:txBody>
      </p:sp>
      <p:sp>
        <p:nvSpPr>
          <p:cNvPr id="9" name="Text 7"/>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3EFD3"/>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예상 문제 2</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해설 — 이런 판단과 이유면 좋습니다</a:t>
            </a:r>
            <a:endParaRPr lang="en-US" sz="2700" dirty="0"/>
          </a:p>
        </p:txBody>
      </p:sp>
      <p:sp>
        <p:nvSpPr>
          <p:cNvPr id="4" name="Shape 2"/>
          <p:cNvSpPr/>
          <p:nvPr/>
        </p:nvSpPr>
        <p:spPr>
          <a:xfrm>
            <a:off x="548640" y="2148840"/>
            <a:ext cx="11091672" cy="960120"/>
          </a:xfrm>
          <a:prstGeom prst="roundRect">
            <a:avLst>
              <a:gd name="adj" fmla="val 9524"/>
            </a:avLst>
          </a:prstGeom>
          <a:solidFill>
            <a:srgbClr val="FFFFFF"/>
          </a:solidFill>
          <a:ln/>
        </p:spPr>
        <p:txBody>
          <a:bodyPr/>
          <a:lstStyle/>
          <a:p>
            <a:endParaRPr lang="ko-KR" altLang="en-US"/>
          </a:p>
        </p:txBody>
      </p:sp>
      <p:sp>
        <p:nvSpPr>
          <p:cNvPr id="5" name="Shape 3"/>
          <p:cNvSpPr/>
          <p:nvPr/>
        </p:nvSpPr>
        <p:spPr>
          <a:xfrm>
            <a:off x="777240" y="2464308"/>
            <a:ext cx="329184" cy="329184"/>
          </a:xfrm>
          <a:prstGeom prst="ellipse">
            <a:avLst/>
          </a:prstGeom>
          <a:solidFill>
            <a:srgbClr val="D9A62E"/>
          </a:solidFill>
          <a:ln/>
        </p:spPr>
        <p:txBody>
          <a:bodyPr/>
          <a:lstStyle/>
          <a:p>
            <a:endParaRPr lang="ko-KR" altLang="en-US"/>
          </a:p>
        </p:txBody>
      </p:sp>
      <p:sp>
        <p:nvSpPr>
          <p:cNvPr id="6" name="Text 4"/>
          <p:cNvSpPr/>
          <p:nvPr/>
        </p:nvSpPr>
        <p:spPr>
          <a:xfrm>
            <a:off x="777240" y="2464308"/>
            <a:ext cx="329184" cy="329184"/>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7" name="Text 5"/>
          <p:cNvSpPr/>
          <p:nvPr/>
        </p:nvSpPr>
        <p:spPr>
          <a:xfrm>
            <a:off x="1325880" y="2148840"/>
            <a:ext cx="9994392" cy="960120"/>
          </a:xfrm>
          <a:prstGeom prst="rect">
            <a:avLst/>
          </a:prstGeom>
          <a:noFill/>
          <a:ln/>
        </p:spPr>
        <p:txBody>
          <a:bodyPr wrap="square" rtlCol="0" anchor="ctr"/>
          <a:lstStyle/>
          <a:p>
            <a:pPr marL="0" indent="0">
              <a:buNone/>
            </a:pPr>
            <a:r>
              <a:rPr lang="en-US" sz="1400" dirty="0">
                <a:solidFill>
                  <a:srgbClr val="27321F"/>
                </a:solidFill>
                <a:latin typeface="맑은 고딕" pitchFamily="34" charset="0"/>
                <a:ea typeface="맑은 고딕" pitchFamily="34" charset="-122"/>
                <a:cs typeface="맑은 고딕" pitchFamily="34" charset="-120"/>
              </a:rPr>
              <a:t>로지스틱 회귀는 각 피처가 더하기로만(독립적으로) 영향을 준다고 가정 — 문의 건수의 효과가 구매 경력에 따라 뒤집히는 조합은 계수 하나로 표현 못한다.</a:t>
            </a:r>
            <a:endParaRPr lang="en-US" sz="1400" dirty="0"/>
          </a:p>
        </p:txBody>
      </p:sp>
      <p:sp>
        <p:nvSpPr>
          <p:cNvPr id="8" name="Shape 6"/>
          <p:cNvSpPr/>
          <p:nvPr/>
        </p:nvSpPr>
        <p:spPr>
          <a:xfrm>
            <a:off x="548640" y="3273552"/>
            <a:ext cx="11091672" cy="960120"/>
          </a:xfrm>
          <a:prstGeom prst="roundRect">
            <a:avLst>
              <a:gd name="adj" fmla="val 9524"/>
            </a:avLst>
          </a:prstGeom>
          <a:solidFill>
            <a:srgbClr val="FFFFFF"/>
          </a:solidFill>
          <a:ln/>
        </p:spPr>
        <p:txBody>
          <a:bodyPr/>
          <a:lstStyle/>
          <a:p>
            <a:endParaRPr lang="ko-KR" altLang="en-US"/>
          </a:p>
        </p:txBody>
      </p:sp>
      <p:sp>
        <p:nvSpPr>
          <p:cNvPr id="9" name="Shape 7"/>
          <p:cNvSpPr/>
          <p:nvPr/>
        </p:nvSpPr>
        <p:spPr>
          <a:xfrm>
            <a:off x="777240" y="3589020"/>
            <a:ext cx="329184" cy="329184"/>
          </a:xfrm>
          <a:prstGeom prst="ellipse">
            <a:avLst/>
          </a:prstGeom>
          <a:solidFill>
            <a:srgbClr val="97BC62"/>
          </a:solidFill>
          <a:ln/>
        </p:spPr>
        <p:txBody>
          <a:bodyPr/>
          <a:lstStyle/>
          <a:p>
            <a:endParaRPr lang="ko-KR" altLang="en-US"/>
          </a:p>
        </p:txBody>
      </p:sp>
      <p:sp>
        <p:nvSpPr>
          <p:cNvPr id="10" name="Text 8"/>
          <p:cNvSpPr/>
          <p:nvPr/>
        </p:nvSpPr>
        <p:spPr>
          <a:xfrm>
            <a:off x="777240" y="3589020"/>
            <a:ext cx="329184" cy="329184"/>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11" name="Text 9"/>
          <p:cNvSpPr/>
          <p:nvPr/>
        </p:nvSpPr>
        <p:spPr>
          <a:xfrm>
            <a:off x="1325880" y="3273552"/>
            <a:ext cx="9994392" cy="960120"/>
          </a:xfrm>
          <a:prstGeom prst="rect">
            <a:avLst/>
          </a:prstGeom>
          <a:noFill/>
          <a:ln/>
        </p:spPr>
        <p:txBody>
          <a:bodyPr wrap="square" rtlCol="0" anchor="ctr"/>
          <a:lstStyle/>
          <a:p>
            <a:pPr marL="0" indent="0">
              <a:buNone/>
            </a:pPr>
            <a:r>
              <a:rPr lang="en-US" sz="1400" dirty="0">
                <a:solidFill>
                  <a:srgbClr val="27321F"/>
                </a:solidFill>
                <a:latin typeface="맑은 고딕" pitchFamily="34" charset="0"/>
                <a:ea typeface="맑은 고딕" pitchFamily="34" charset="-122"/>
                <a:cs typeface="맑은 고딕" pitchFamily="34" charset="-120"/>
              </a:rPr>
              <a:t>의사결정나무는 먼저 분할변수 '첫 구매 후 경과일', 분할점 '30일'로 나누고, 그 안에서 다시 분할변수 '문의 건수', 분할점 '2건'으로 한 번 더 나눈다.</a:t>
            </a:r>
            <a:endParaRPr lang="en-US" sz="1400" dirty="0"/>
          </a:p>
        </p:txBody>
      </p:sp>
      <p:sp>
        <p:nvSpPr>
          <p:cNvPr id="12" name="Shape 10"/>
          <p:cNvSpPr/>
          <p:nvPr/>
        </p:nvSpPr>
        <p:spPr>
          <a:xfrm>
            <a:off x="548640" y="4398264"/>
            <a:ext cx="11091672" cy="960120"/>
          </a:xfrm>
          <a:prstGeom prst="roundRect">
            <a:avLst>
              <a:gd name="adj" fmla="val 9524"/>
            </a:avLst>
          </a:prstGeom>
          <a:solidFill>
            <a:srgbClr val="FFFFFF"/>
          </a:solidFill>
          <a:ln/>
        </p:spPr>
        <p:txBody>
          <a:bodyPr/>
          <a:lstStyle/>
          <a:p>
            <a:endParaRPr lang="ko-KR" altLang="en-US"/>
          </a:p>
        </p:txBody>
      </p:sp>
      <p:sp>
        <p:nvSpPr>
          <p:cNvPr id="13" name="Shape 11"/>
          <p:cNvSpPr/>
          <p:nvPr/>
        </p:nvSpPr>
        <p:spPr>
          <a:xfrm>
            <a:off x="777240" y="4713732"/>
            <a:ext cx="329184" cy="329184"/>
          </a:xfrm>
          <a:prstGeom prst="ellipse">
            <a:avLst/>
          </a:prstGeom>
          <a:solidFill>
            <a:srgbClr val="97BC62"/>
          </a:solidFill>
          <a:ln/>
        </p:spPr>
        <p:txBody>
          <a:bodyPr/>
          <a:lstStyle/>
          <a:p>
            <a:endParaRPr lang="ko-KR" altLang="en-US"/>
          </a:p>
        </p:txBody>
      </p:sp>
      <p:sp>
        <p:nvSpPr>
          <p:cNvPr id="14" name="Text 12"/>
          <p:cNvSpPr/>
          <p:nvPr/>
        </p:nvSpPr>
        <p:spPr>
          <a:xfrm>
            <a:off x="777240" y="4713732"/>
            <a:ext cx="329184" cy="329184"/>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15" name="Text 13"/>
          <p:cNvSpPr/>
          <p:nvPr/>
        </p:nvSpPr>
        <p:spPr>
          <a:xfrm>
            <a:off x="1325880" y="4398264"/>
            <a:ext cx="9994392" cy="960120"/>
          </a:xfrm>
          <a:prstGeom prst="rect">
            <a:avLst/>
          </a:prstGeom>
          <a:noFill/>
          <a:ln/>
        </p:spPr>
        <p:txBody>
          <a:bodyPr wrap="square" rtlCol="0" anchor="ctr"/>
          <a:lstStyle/>
          <a:p>
            <a:pPr marL="0" indent="0">
              <a:buNone/>
            </a:pPr>
            <a:r>
              <a:rPr lang="en-US" sz="1400" dirty="0">
                <a:solidFill>
                  <a:srgbClr val="27321F"/>
                </a:solidFill>
                <a:latin typeface="맑은 고딕" pitchFamily="34" charset="0"/>
                <a:ea typeface="맑은 고딕" pitchFamily="34" charset="-122"/>
                <a:cs typeface="맑은 고딕" pitchFamily="34" charset="-120"/>
              </a:rPr>
              <a:t>이렇게 두 번의 분기를 거치면 '첫 구매 후 30일 이내 AND 문의 2건 이상'이라는 조합을 사람이 교차항을 만들지 않아도 트리가 스스로 찾아낸다.</a:t>
            </a:r>
            <a:endParaRPr lang="en-US" sz="1400" dirty="0"/>
          </a:p>
        </p:txBody>
      </p:sp>
      <p:sp>
        <p:nvSpPr>
          <p:cNvPr id="16" name="Text 14"/>
          <p:cNvSpPr/>
          <p:nvPr/>
        </p:nvSpPr>
        <p:spPr>
          <a:xfrm>
            <a:off x="548640" y="5989320"/>
            <a:ext cx="11091672" cy="502920"/>
          </a:xfrm>
          <a:prstGeom prst="rect">
            <a:avLst/>
          </a:prstGeom>
          <a:noFill/>
          <a:ln/>
        </p:spPr>
        <p:txBody>
          <a:bodyPr wrap="square" rtlCol="0" anchor="ctr"/>
          <a:lstStyle/>
          <a:p>
            <a:pPr marL="0" indent="0">
              <a:buNone/>
            </a:pPr>
            <a:r>
              <a:rPr lang="en-US" sz="1250" i="1" dirty="0">
                <a:solidFill>
                  <a:srgbClr val="5A6B4E"/>
                </a:solidFill>
                <a:latin typeface="맑은 고딕" pitchFamily="34" charset="0"/>
                <a:ea typeface="맑은 고딕" pitchFamily="34" charset="-122"/>
                <a:cs typeface="맑은 고딕" pitchFamily="34" charset="-120"/>
              </a:rPr>
              <a:t>포인트: '분할변수'·'분할점'이라는 용어로 트리의 분기 과정을 직접 설명할 수 있으면 정답입니다.</a:t>
            </a:r>
            <a:endParaRPr lang="en-US" sz="1250" dirty="0"/>
          </a:p>
        </p:txBody>
      </p:sp>
      <p:sp>
        <p:nvSpPr>
          <p:cNvPr id="17" name="Text 15"/>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marL="0" indent="0">
              <a:buNone/>
            </a:pPr>
            <a:r>
              <a:rPr lang="en-US" sz="1200" b="1" kern="0" spc="200" dirty="0">
                <a:solidFill>
                  <a:srgbClr val="97BC62"/>
                </a:solidFill>
                <a:latin typeface="맑은 고딕" pitchFamily="34" charset="0"/>
                <a:ea typeface="맑은 고딕" pitchFamily="34" charset="-122"/>
                <a:cs typeface="맑은 고딕" pitchFamily="34" charset="-120"/>
              </a:rPr>
              <a:t>정리</a:t>
            </a:r>
            <a:endParaRPr lang="en-US" sz="1200" dirty="0"/>
          </a:p>
        </p:txBody>
      </p:sp>
      <p:sp>
        <p:nvSpPr>
          <p:cNvPr id="3" name="Text 1"/>
          <p:cNvSpPr/>
          <p:nvPr/>
        </p:nvSpPr>
        <p:spPr>
          <a:xfrm>
            <a:off x="548640" y="685800"/>
            <a:ext cx="11091672" cy="822960"/>
          </a:xfrm>
          <a:prstGeom prst="rect">
            <a:avLst/>
          </a:prstGeom>
          <a:noFill/>
          <a:ln/>
        </p:spPr>
        <p:txBody>
          <a:bodyPr wrap="square" rtlCol="0" anchor="ctr"/>
          <a:lstStyle/>
          <a:p>
            <a:pPr marL="0" indent="0">
              <a:buNone/>
            </a:pPr>
            <a:r>
              <a:rPr lang="en-US" sz="2700" b="1" dirty="0">
                <a:solidFill>
                  <a:srgbClr val="1E4220"/>
                </a:solidFill>
                <a:latin typeface="맑은 고딕" pitchFamily="34" charset="0"/>
                <a:ea typeface="맑은 고딕" pitchFamily="34" charset="-122"/>
                <a:cs typeface="맑은 고딕" pitchFamily="34" charset="-120"/>
              </a:rPr>
              <a:t>의사결정나무 — 장점과 단점</a:t>
            </a:r>
            <a:endParaRPr lang="en-US" sz="2700" dirty="0"/>
          </a:p>
        </p:txBody>
      </p:sp>
      <p:sp>
        <p:nvSpPr>
          <p:cNvPr id="4" name="Shape 2"/>
          <p:cNvSpPr/>
          <p:nvPr/>
        </p:nvSpPr>
        <p:spPr>
          <a:xfrm>
            <a:off x="548640" y="2103120"/>
            <a:ext cx="5029200" cy="3017520"/>
          </a:xfrm>
          <a:prstGeom prst="roundRect">
            <a:avLst>
              <a:gd name="adj" fmla="val 3030"/>
            </a:avLst>
          </a:prstGeom>
          <a:solidFill>
            <a:srgbClr val="E3EFD3"/>
          </a:solidFill>
          <a:ln/>
        </p:spPr>
        <p:txBody>
          <a:bodyPr/>
          <a:lstStyle/>
          <a:p>
            <a:endParaRPr lang="ko-KR" altLang="en-US"/>
          </a:p>
        </p:txBody>
      </p:sp>
      <p:sp>
        <p:nvSpPr>
          <p:cNvPr id="5" name="Text 3"/>
          <p:cNvSpPr/>
          <p:nvPr/>
        </p:nvSpPr>
        <p:spPr>
          <a:xfrm>
            <a:off x="868680" y="2286000"/>
            <a:ext cx="4389120" cy="411480"/>
          </a:xfrm>
          <a:prstGeom prst="rect">
            <a:avLst/>
          </a:prstGeom>
          <a:noFill/>
          <a:ln/>
        </p:spPr>
        <p:txBody>
          <a:bodyPr wrap="square" rtlCol="0" anchor="ctr"/>
          <a:lstStyle/>
          <a:p>
            <a:pPr marL="0" indent="0">
              <a:buNone/>
            </a:pPr>
            <a:r>
              <a:rPr lang="en-US" sz="1800" b="1" dirty="0">
                <a:solidFill>
                  <a:srgbClr val="1E4220"/>
                </a:solidFill>
                <a:latin typeface="맑은 고딕" pitchFamily="34" charset="0"/>
                <a:ea typeface="맑은 고딕" pitchFamily="34" charset="-122"/>
                <a:cs typeface="맑은 고딕" pitchFamily="34" charset="-120"/>
              </a:rPr>
              <a:t>장점</a:t>
            </a:r>
            <a:endParaRPr lang="en-US" sz="1800" dirty="0"/>
          </a:p>
        </p:txBody>
      </p:sp>
      <p:sp>
        <p:nvSpPr>
          <p:cNvPr id="6" name="Text 4"/>
          <p:cNvSpPr/>
          <p:nvPr/>
        </p:nvSpPr>
        <p:spPr>
          <a:xfrm>
            <a:off x="868680" y="2788920"/>
            <a:ext cx="4389120" cy="2103120"/>
          </a:xfrm>
          <a:prstGeom prst="rect">
            <a:avLst/>
          </a:prstGeom>
          <a:noFill/>
          <a:ln/>
        </p:spPr>
        <p:txBody>
          <a:bodyPr wrap="square" rtlCol="0" anchor="ctr"/>
          <a:lstStyle/>
          <a:p>
            <a:pPr marL="342900" indent="-342900">
              <a:spcAft>
                <a:spcPts val="800"/>
              </a:spcAft>
              <a:buSzPct val="100000"/>
              <a:buChar char="•"/>
            </a:pPr>
            <a:r>
              <a:rPr lang="en-US" sz="1350" dirty="0">
                <a:solidFill>
                  <a:srgbClr val="27321F"/>
                </a:solidFill>
                <a:latin typeface="맑은 고딕" pitchFamily="34" charset="0"/>
                <a:ea typeface="맑은 고딕" pitchFamily="34" charset="-122"/>
                <a:cs typeface="맑은 고딕" pitchFamily="34" charset="-120"/>
              </a:rPr>
              <a:t>사람이 읽을 수 있음 (해석력)</a:t>
            </a:r>
            <a:endParaRPr lang="en-US" sz="1350" dirty="0"/>
          </a:p>
          <a:p>
            <a:pPr marL="342900" indent="-342900">
              <a:spcAft>
                <a:spcPts val="800"/>
              </a:spcAft>
              <a:buSzPct val="100000"/>
              <a:buChar char="•"/>
            </a:pPr>
            <a:r>
              <a:rPr lang="en-US" sz="1350" dirty="0">
                <a:solidFill>
                  <a:srgbClr val="27321F"/>
                </a:solidFill>
                <a:latin typeface="맑은 고딕" pitchFamily="34" charset="0"/>
                <a:ea typeface="맑은 고딕" pitchFamily="34" charset="-122"/>
                <a:cs typeface="맑은 고딕" pitchFamily="34" charset="-120"/>
              </a:rPr>
              <a:t>전처리 부담 적음(스케일링 불필요)</a:t>
            </a:r>
            <a:endParaRPr lang="en-US" sz="1350" dirty="0"/>
          </a:p>
          <a:p>
            <a:pPr marL="342900" indent="-342900">
              <a:spcAft>
                <a:spcPts val="800"/>
              </a:spcAft>
              <a:buSzPct val="100000"/>
              <a:buChar char="•"/>
            </a:pPr>
            <a:r>
              <a:rPr lang="en-US" sz="1350" dirty="0">
                <a:solidFill>
                  <a:srgbClr val="27321F"/>
                </a:solidFill>
                <a:latin typeface="맑은 고딕" pitchFamily="34" charset="0"/>
                <a:ea typeface="맑은 고딕" pitchFamily="34" charset="-122"/>
                <a:cs typeface="맑은 고딕" pitchFamily="34" charset="-120"/>
              </a:rPr>
              <a:t>비선형·조합(교차) 패턴 자동 포착</a:t>
            </a:r>
            <a:endParaRPr lang="en-US" sz="1350" dirty="0"/>
          </a:p>
          <a:p>
            <a:pPr marL="342900" indent="-342900">
              <a:spcAft>
                <a:spcPts val="800"/>
              </a:spcAft>
              <a:buSzPct val="100000"/>
              <a:buChar char="•"/>
            </a:pPr>
            <a:r>
              <a:rPr lang="en-US" sz="1350" dirty="0">
                <a:solidFill>
                  <a:srgbClr val="27321F"/>
                </a:solidFill>
                <a:latin typeface="맑은 고딕" pitchFamily="34" charset="0"/>
                <a:ea typeface="맑은 고딕" pitchFamily="34" charset="-122"/>
                <a:cs typeface="맑은 고딕" pitchFamily="34" charset="-120"/>
              </a:rPr>
              <a:t>분류·회귀 모두 가능</a:t>
            </a:r>
            <a:endParaRPr lang="en-US" sz="1350" dirty="0"/>
          </a:p>
        </p:txBody>
      </p:sp>
      <p:sp>
        <p:nvSpPr>
          <p:cNvPr id="7" name="Shape 5"/>
          <p:cNvSpPr/>
          <p:nvPr/>
        </p:nvSpPr>
        <p:spPr>
          <a:xfrm>
            <a:off x="5852160" y="2103120"/>
            <a:ext cx="5029200" cy="3017520"/>
          </a:xfrm>
          <a:prstGeom prst="roundRect">
            <a:avLst>
              <a:gd name="adj" fmla="val 3030"/>
            </a:avLst>
          </a:prstGeom>
          <a:solidFill>
            <a:srgbClr val="FBEBC8"/>
          </a:solidFill>
          <a:ln/>
        </p:spPr>
        <p:txBody>
          <a:bodyPr/>
          <a:lstStyle/>
          <a:p>
            <a:endParaRPr lang="ko-KR" altLang="en-US"/>
          </a:p>
        </p:txBody>
      </p:sp>
      <p:sp>
        <p:nvSpPr>
          <p:cNvPr id="8" name="Text 6"/>
          <p:cNvSpPr/>
          <p:nvPr/>
        </p:nvSpPr>
        <p:spPr>
          <a:xfrm>
            <a:off x="6172200" y="2286000"/>
            <a:ext cx="4389120" cy="411480"/>
          </a:xfrm>
          <a:prstGeom prst="rect">
            <a:avLst/>
          </a:prstGeom>
          <a:noFill/>
          <a:ln/>
        </p:spPr>
        <p:txBody>
          <a:bodyPr wrap="square" rtlCol="0" anchor="ctr"/>
          <a:lstStyle/>
          <a:p>
            <a:pPr marL="0" indent="0">
              <a:buNone/>
            </a:pPr>
            <a:r>
              <a:rPr lang="en-US" sz="1800" b="1" dirty="0">
                <a:solidFill>
                  <a:srgbClr val="B8841E"/>
                </a:solidFill>
                <a:latin typeface="맑은 고딕" pitchFamily="34" charset="0"/>
                <a:ea typeface="맑은 고딕" pitchFamily="34" charset="-122"/>
                <a:cs typeface="맑은 고딕" pitchFamily="34" charset="-120"/>
              </a:rPr>
              <a:t>단점</a:t>
            </a:r>
            <a:endParaRPr lang="en-US" sz="1800" dirty="0"/>
          </a:p>
        </p:txBody>
      </p:sp>
      <p:sp>
        <p:nvSpPr>
          <p:cNvPr id="9" name="Text 7"/>
          <p:cNvSpPr/>
          <p:nvPr/>
        </p:nvSpPr>
        <p:spPr>
          <a:xfrm>
            <a:off x="6172200" y="2788920"/>
            <a:ext cx="4389120" cy="2103120"/>
          </a:xfrm>
          <a:prstGeom prst="rect">
            <a:avLst/>
          </a:prstGeom>
          <a:noFill/>
          <a:ln/>
        </p:spPr>
        <p:txBody>
          <a:bodyPr wrap="square" rtlCol="0" anchor="ctr"/>
          <a:lstStyle/>
          <a:p>
            <a:pPr marL="342900" indent="-342900">
              <a:spcAft>
                <a:spcPts val="800"/>
              </a:spcAft>
              <a:buSzPct val="100000"/>
              <a:buChar char="•"/>
            </a:pPr>
            <a:r>
              <a:rPr lang="en-US" sz="1350" b="1" dirty="0">
                <a:solidFill>
                  <a:srgbClr val="27321F"/>
                </a:solidFill>
                <a:latin typeface="맑은 고딕" pitchFamily="34" charset="0"/>
                <a:ea typeface="맑은 고딕" pitchFamily="34" charset="-122"/>
                <a:cs typeface="맑은 고딕" pitchFamily="34" charset="-120"/>
              </a:rPr>
              <a:t>깊어지면 과적합 (오늘의 핵심)</a:t>
            </a:r>
            <a:endParaRPr lang="en-US" sz="1350" dirty="0"/>
          </a:p>
          <a:p>
            <a:pPr marL="342900" indent="-342900">
              <a:spcAft>
                <a:spcPts val="800"/>
              </a:spcAft>
              <a:buSzPct val="100000"/>
              <a:buChar char="•"/>
            </a:pPr>
            <a:r>
              <a:rPr lang="en-US" sz="1350" dirty="0">
                <a:solidFill>
                  <a:srgbClr val="27321F"/>
                </a:solidFill>
                <a:latin typeface="맑은 고딕" pitchFamily="34" charset="0"/>
                <a:ea typeface="맑은 고딕" pitchFamily="34" charset="-122"/>
                <a:cs typeface="맑은 고딕" pitchFamily="34" charset="-120"/>
              </a:rPr>
              <a:t>데이터가 조금 바뀌면 트리가 크게 흔들림(불안정)</a:t>
            </a:r>
            <a:endParaRPr lang="en-US" sz="1350" dirty="0"/>
          </a:p>
          <a:p>
            <a:pPr marL="342900" indent="-342900">
              <a:spcAft>
                <a:spcPts val="800"/>
              </a:spcAft>
              <a:buSzPct val="100000"/>
              <a:buChar char="•"/>
            </a:pPr>
            <a:r>
              <a:rPr lang="en-US" sz="1350" dirty="0">
                <a:solidFill>
                  <a:srgbClr val="27321F"/>
                </a:solidFill>
                <a:latin typeface="맑은 고딕" pitchFamily="34" charset="0"/>
                <a:ea typeface="맑은 고딕" pitchFamily="34" charset="-122"/>
                <a:cs typeface="맑은 고딕" pitchFamily="34" charset="-120"/>
              </a:rPr>
              <a:t>계단 경계라 부드러운 경계엔 약함</a:t>
            </a:r>
            <a:endParaRPr lang="en-US" sz="1350" dirty="0"/>
          </a:p>
        </p:txBody>
      </p:sp>
      <p:sp>
        <p:nvSpPr>
          <p:cNvPr id="10" name="Text 8"/>
          <p:cNvSpPr/>
          <p:nvPr/>
        </p:nvSpPr>
        <p:spPr>
          <a:xfrm>
            <a:off x="548640" y="5440680"/>
            <a:ext cx="11091672" cy="640080"/>
          </a:xfrm>
          <a:prstGeom prst="rect">
            <a:avLst/>
          </a:prstGeom>
          <a:noFill/>
          <a:ln/>
        </p:spPr>
        <p:txBody>
          <a:bodyPr wrap="square" rtlCol="0" anchor="ctr"/>
          <a:lstStyle/>
          <a:p>
            <a:pPr marL="0" indent="0" algn="ctr">
              <a:buNone/>
            </a:pPr>
            <a:r>
              <a:rPr lang="en-US" sz="1600" b="1" i="1" dirty="0">
                <a:solidFill>
                  <a:srgbClr val="1E4220"/>
                </a:solidFill>
                <a:latin typeface="맑은 고딕" pitchFamily="34" charset="0"/>
                <a:ea typeface="맑은 고딕" pitchFamily="34" charset="-122"/>
                <a:cs typeface="맑은 고딕" pitchFamily="34" charset="-120"/>
              </a:rPr>
              <a:t>오늘 꼭 기억할 한 문장 — "과적합은 학습 점수 하나가 아니라, 학습-테스트 격차로 판정한다."</a:t>
            </a:r>
            <a:endParaRPr lang="en-US" sz="1600" dirty="0"/>
          </a:p>
        </p:txBody>
      </p:sp>
      <p:sp>
        <p:nvSpPr>
          <p:cNvPr id="11" name="Text 9"/>
          <p:cNvSpPr/>
          <p:nvPr/>
        </p:nvSpPr>
        <p:spPr>
          <a:xfrm>
            <a:off x="11274552" y="6355080"/>
            <a:ext cx="548640" cy="320040"/>
          </a:xfrm>
          <a:prstGeom prst="rect">
            <a:avLst/>
          </a:prstGeom>
          <a:noFill/>
          <a:ln/>
        </p:spPr>
        <p:txBody>
          <a:bodyPr wrap="square" rtlCol="0" anchor="ctr"/>
          <a:lstStyle/>
          <a:p>
            <a:pPr marL="0" indent="0" algn="r">
              <a:buNone/>
            </a:pPr>
            <a:r>
              <a:rPr lang="en-US" sz="1000" dirty="0">
                <a:solidFill>
                  <a:srgbClr val="9AA593"/>
                </a:solidFill>
                <a:latin typeface="맑은 고딕" pitchFamily="34" charset="0"/>
                <a:ea typeface="맑은 고딕" pitchFamily="34" charset="-122"/>
                <a:cs typeface="맑은 고딕"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1773</Words>
  <Application>Microsoft Macintosh PowerPoint</Application>
  <PresentationFormat>와이드스크린</PresentationFormat>
  <Paragraphs>199</Paragraphs>
  <Slides>16</Slides>
  <Notes>16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16</vt:i4>
      </vt:variant>
    </vt:vector>
  </HeadingPairs>
  <TitlesOfParts>
    <vt:vector size="19"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정유빈</cp:lastModifiedBy>
  <cp:revision>2</cp:revision>
  <dcterms:created xsi:type="dcterms:W3CDTF">2026-08-11T06:23:43Z</dcterms:created>
  <dcterms:modified xsi:type="dcterms:W3CDTF">2026-08-11T07:13:02Z</dcterms:modified>
</cp:coreProperties>
</file>