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8" d="100"/>
          <a:sy n="108" d="100"/>
        </p:scale>
        <p:origin x="21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GungSeo" pitchFamily="2" charset="-127"/>
              <a:ea typeface="GungSeo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 dirty="0" err="1">
                <a:solidFill>
                  <a:srgbClr val="8FB6FF"/>
                </a:solidFill>
                <a:latin typeface="Apple SD Gothic Neo"/>
                <a:ea typeface="Apple SD Gothic Neo"/>
              </a:rPr>
              <a:t>가설검정</a:t>
            </a:r>
            <a:r>
              <a:rPr sz="1600" b="1" i="0" dirty="0">
                <a:solidFill>
                  <a:srgbClr val="8FB6FF"/>
                </a:solidFill>
                <a:latin typeface="Apple SD Gothic Neo"/>
                <a:ea typeface="Apple SD Gothic Neo"/>
              </a:rPr>
              <a:t> </a:t>
            </a:r>
            <a:r>
              <a:rPr sz="1600" b="1" i="0" dirty="0" err="1">
                <a:solidFill>
                  <a:srgbClr val="8FB6FF"/>
                </a:solidFill>
                <a:latin typeface="Apple SD Gothic Neo"/>
                <a:ea typeface="Apple SD Gothic Neo"/>
              </a:rPr>
              <a:t>실습</a:t>
            </a:r>
            <a:r>
              <a:rPr sz="1600" b="1" i="0" dirty="0">
                <a:solidFill>
                  <a:srgbClr val="8FB6FF"/>
                </a:solidFill>
                <a:latin typeface="Apple SD Gothic Neo"/>
                <a:ea typeface="Apple SD Gothic Neo"/>
              </a:rPr>
              <a:t> </a:t>
            </a:r>
            <a:r>
              <a:rPr sz="1600" b="1" i="0" dirty="0" err="1">
                <a:solidFill>
                  <a:srgbClr val="8FB6FF"/>
                </a:solidFill>
                <a:latin typeface="Apple SD Gothic Neo"/>
                <a:ea typeface="Apple SD Gothic Neo"/>
              </a:rPr>
              <a:t>발표</a:t>
            </a:r>
            <a:r>
              <a:rPr sz="1600" b="1" i="0" dirty="0">
                <a:solidFill>
                  <a:srgbClr val="8FB6FF"/>
                </a:solidFill>
                <a:latin typeface="Apple SD Gothic Neo"/>
                <a:ea typeface="Apple SD Gothic Neo"/>
              </a:rPr>
              <a:t> — </a:t>
            </a:r>
            <a:r>
              <a:rPr sz="1600" b="1" i="0" dirty="0" err="1">
                <a:solidFill>
                  <a:srgbClr val="8FB6FF"/>
                </a:solidFill>
                <a:latin typeface="Apple SD Gothic Neo"/>
                <a:ea typeface="Apple SD Gothic Neo"/>
              </a:rPr>
              <a:t>문제</a:t>
            </a:r>
            <a:r>
              <a:rPr sz="1600" b="1" i="0" dirty="0">
                <a:solidFill>
                  <a:srgbClr val="8FB6FF"/>
                </a:solidFill>
                <a:latin typeface="Apple SD Gothic Neo"/>
                <a:ea typeface="Apple SD Gothic Neo"/>
              </a:rPr>
              <a:t>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 dirty="0" err="1">
                <a:solidFill>
                  <a:srgbClr val="FFFFFF"/>
                </a:solidFill>
                <a:latin typeface="Apple SD Gothic Neo"/>
                <a:ea typeface="Apple SD Gothic Neo"/>
              </a:rPr>
              <a:t>일표본</a:t>
            </a:r>
            <a:r>
              <a:rPr sz="4400" b="1" i="0" dirty="0">
                <a:solidFill>
                  <a:srgbClr val="FFFFFF"/>
                </a:solidFill>
                <a:latin typeface="Apple SD Gothic Neo"/>
                <a:ea typeface="Apple SD Gothic Neo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Apple SD Gothic Neo"/>
                <a:ea typeface="Apple SD Gothic Neo"/>
              </a:rPr>
              <a:t>t검정</a:t>
            </a:r>
            <a:r>
              <a:rPr sz="4400" b="1" i="0" dirty="0">
                <a:solidFill>
                  <a:srgbClr val="FFFFFF"/>
                </a:solidFill>
                <a:latin typeface="Apple SD Gothic Neo"/>
                <a:ea typeface="Apple SD Gothic Neo"/>
              </a:rPr>
              <a:t> (One-sample t-Test)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과자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한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봉지의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중량은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150g이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맞을까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? ·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개념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설명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&amp;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문제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설명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&amp; Q1(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가설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 </a:t>
            </a:r>
            <a:r>
              <a:rPr sz="1800" b="0" i="0" dirty="0" err="1">
                <a:solidFill>
                  <a:srgbClr val="C9D6EC"/>
                </a:solidFill>
                <a:latin typeface="Apple SD Gothic Neo"/>
                <a:ea typeface="Apple SD Gothic Neo"/>
              </a:rPr>
              <a:t>설정</a:t>
            </a:r>
            <a:r>
              <a:rPr sz="1800" b="0" i="0" dirty="0">
                <a:solidFill>
                  <a:srgbClr val="C9D6EC"/>
                </a:solidFill>
                <a:latin typeface="Apple SD Gothic Neo"/>
                <a:ea typeface="Apple SD Gothic Neo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1463040" cy="38100"/>
          </a:xfrm>
          <a:prstGeom prst="rect">
            <a:avLst/>
          </a:prstGeom>
          <a:solidFill>
            <a:srgbClr val="8F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F77D4"/>
                </a:solidFill>
                <a:latin typeface="Apple SD Gothic Neo"/>
                <a:ea typeface="Apple SD Gothic Neo"/>
              </a:rPr>
              <a:t>개념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Apple SD Gothic Neo"/>
                <a:ea typeface="Apple SD Gothic Neo"/>
              </a:rPr>
              <a:t>일표본 t검정이란?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600" b="1" i="0">
                <a:solidFill>
                  <a:srgbClr val="1B2A4A"/>
                </a:solidFill>
                <a:latin typeface="Apple SD Gothic Neo"/>
                <a:ea typeface="Apple SD Gothic Neo"/>
              </a:rPr>
              <a:t>▪  일표본 t검정</a:t>
            </a:r>
          </a:p>
          <a:p>
            <a:pPr lvl="1">
              <a:spcAft>
                <a:spcPts val="1400"/>
              </a:spcAft>
            </a:pPr>
            <a:r>
              <a:rPr sz="2100" b="0" i="0">
                <a:solidFill>
                  <a:srgbClr val="2B2B2B"/>
                </a:solidFill>
                <a:latin typeface="Apple SD Gothic Neo"/>
                <a:ea typeface="Apple SD Gothic Neo"/>
              </a:rPr>
              <a:t>-  표본이 하나일 때</a:t>
            </a:r>
          </a:p>
          <a:p>
            <a:pPr lvl="1">
              <a:spcAft>
                <a:spcPts val="2200"/>
              </a:spcAft>
            </a:pPr>
            <a:r>
              <a:rPr sz="2100" b="0" i="0">
                <a:solidFill>
                  <a:srgbClr val="2B2B2B"/>
                </a:solidFill>
                <a:latin typeface="Apple SD Gothic Neo"/>
                <a:ea typeface="Apple SD Gothic Neo"/>
              </a:rPr>
              <a:t>-  어떤 평균값의 모집단에서 표본을 얻었는가를 조사하는 것이 됩니다.</a:t>
            </a:r>
          </a:p>
          <a:p>
            <a:pPr lvl="2">
              <a:spcAft>
                <a:spcPts val="1200"/>
              </a:spcAft>
            </a:pPr>
            <a:r>
              <a:rPr sz="2000" b="1" i="0">
                <a:solidFill>
                  <a:srgbClr val="333333"/>
                </a:solidFill>
                <a:latin typeface="Apple SD Gothic Neo"/>
                <a:ea typeface="Apple SD Gothic Neo"/>
              </a:rPr>
              <a:t>·  귀무가설: 모집단의 평균 </a:t>
            </a:r>
            <a:r>
              <a:rPr sz="2000" b="1" i="1">
                <a:solidFill>
                  <a:srgbClr val="1F77D4"/>
                </a:solidFill>
                <a:latin typeface="Apple SD Gothic Neo"/>
                <a:ea typeface="Apple SD Gothic Neo"/>
              </a:rPr>
              <a:t>μ</a:t>
            </a:r>
            <a:r>
              <a:rPr sz="2000" b="1" i="0">
                <a:solidFill>
                  <a:srgbClr val="333333"/>
                </a:solidFill>
                <a:latin typeface="Apple SD Gothic Neo"/>
                <a:ea typeface="Apple SD Gothic Neo"/>
              </a:rPr>
              <a:t> = OO이다.</a:t>
            </a:r>
          </a:p>
          <a:p>
            <a:pPr lvl="2">
              <a:spcAft>
                <a:spcPts val="600"/>
              </a:spcAft>
            </a:pPr>
            <a:r>
              <a:rPr sz="2000" b="1" i="0">
                <a:solidFill>
                  <a:srgbClr val="333333"/>
                </a:solidFill>
                <a:latin typeface="Apple SD Gothic Neo"/>
                <a:ea typeface="Apple SD Gothic Neo"/>
              </a:rPr>
              <a:t>·  대립가설: 모집단의 평균 </a:t>
            </a:r>
            <a:r>
              <a:rPr sz="2000" b="1" i="1">
                <a:solidFill>
                  <a:srgbClr val="E08A1E"/>
                </a:solidFill>
                <a:latin typeface="Apple SD Gothic Neo"/>
                <a:ea typeface="Apple SD Gothic Neo"/>
              </a:rPr>
              <a:t>μ</a:t>
            </a:r>
            <a:r>
              <a:rPr sz="2000" b="1" i="0">
                <a:solidFill>
                  <a:srgbClr val="333333"/>
                </a:solidFill>
                <a:latin typeface="Apple SD Gothic Neo"/>
                <a:ea typeface="Apple SD Gothic Neo"/>
              </a:rPr>
              <a:t> = OO이 아니다.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23560"/>
            <a:ext cx="10515600" cy="822960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1F7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500" b="0" i="0">
                <a:solidFill>
                  <a:srgbClr val="555555"/>
                </a:solidFill>
                <a:latin typeface="Apple SD Gothic Neo"/>
                <a:ea typeface="Apple SD Gothic Neo"/>
              </a:rPr>
              <a:t>즉, 하나의 표본 평균을 가지고 '이 표본은 평균이 OO인 모집단에서 나온 것인가?'를 검정하는 방법입니다.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F77D4"/>
                </a:solidFill>
                <a:latin typeface="Apple SD Gothic Neo"/>
                <a:ea typeface="Apple SD Gothic Neo"/>
              </a:rPr>
              <a:t>개념 설명 · 그림 6.2.1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Apple SD Gothic Neo"/>
                <a:ea typeface="Apple SD Gothic Neo"/>
              </a:rPr>
              <a:t>일표본 t검정의 원리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55555"/>
                </a:solidFill>
                <a:latin typeface="Apple SD Gothic Neo"/>
                <a:ea typeface="Apple SD Gothic Neo"/>
              </a:rPr>
              <a:t>가정한 모평균 μ에서 나타날 수 있는 표본평균 x̄의 범위(± 2×표준오차, 약 95%)를 이용해 검정한다.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7C53AE-D0CB-2F90-EC44-A4B8D417F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79"/>
          <a:stretch>
            <a:fillRect/>
          </a:stretch>
        </p:blipFill>
        <p:spPr>
          <a:xfrm>
            <a:off x="2554184" y="1399032"/>
            <a:ext cx="6444561" cy="48314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F77D4"/>
                </a:solidFill>
                <a:latin typeface="Apple SD Gothic Neo"/>
                <a:ea typeface="Apple SD Gothic Neo"/>
              </a:rPr>
              <a:t>문제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Apple SD Gothic Neo"/>
                <a:ea typeface="Apple SD Gothic Neo"/>
              </a:rPr>
              <a:t>문제 2. 과자 한 봉지의 중량은 150g이 맞을까?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88136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Apple SD Gothic Neo"/>
                <a:ea typeface="Apple SD Gothic Neo"/>
              </a:rPr>
              <a:t>▪  한 식품 공장에서 생산하는 과자 한 봉지의 목표 중량은 150g입니다.</a:t>
            </a:r>
          </a:p>
          <a:p>
            <a:pPr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Apple SD Gothic Neo"/>
                <a:ea typeface="Apple SD Gothic Neo"/>
              </a:rPr>
              <a:t>▪  품질관리팀은 생산 공정이 목표 중량을 잘 맞추고 있는지 확인하기 위해, 생산된 과자 30봉지를 무작위로 추출하여 무게를 측정했습니다.</a:t>
            </a:r>
          </a:p>
          <a:p>
            <a:pPr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Apple SD Gothic Neo"/>
                <a:ea typeface="Apple SD Gothic Neo"/>
              </a:rPr>
              <a:t>▪  일표본 t-검정(One-sample t-Test)으로 표본 평균이 목표 중량과 유의미하게 다른지 검증합니다.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2B2B2B"/>
                </a:solidFill>
                <a:latin typeface="Apple SD Gothic Neo"/>
                <a:ea typeface="Apple SD Gothic Neo"/>
              </a:rPr>
              <a:t>▪  “평균이 정확히 150g이라면” 어떤 표본 평균들이 나올 수 있는지 시뮬레이션으로도 확인해 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806440"/>
            <a:ext cx="4206240" cy="594360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</a:rPr>
              <a:t>n = 30,  목표 중량(모평균 가설) = 150g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F77D4"/>
                </a:solidFill>
                <a:latin typeface="Apple SD Gothic Neo"/>
                <a:ea typeface="Apple SD Gothic Neo"/>
              </a:rPr>
              <a:t>문제 2 · 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Apple SD Gothic Neo"/>
                <a:ea typeface="Apple SD Gothic Neo"/>
              </a:rPr>
              <a:t>귀무가설(H₀)과 대립가설(H₁)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37160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1F7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tlCol="0" anchor="ctr"/>
          <a:lstStyle/>
          <a:p>
            <a:pPr algn="ctr"/>
            <a:r>
              <a:rPr sz="2200" b="1" i="0">
                <a:solidFill>
                  <a:srgbClr val="1F77D4"/>
                </a:solidFill>
                <a:latin typeface="Apple SD Gothic Neo"/>
                <a:ea typeface="Apple SD Gothic Neo"/>
              </a:rPr>
              <a:t>귀무가설 (H₀)   </a:t>
            </a:r>
            <a:r>
              <a:rPr sz="2200" b="0" i="0">
                <a:solidFill>
                  <a:srgbClr val="222222"/>
                </a:solidFill>
                <a:latin typeface="Apple SD Gothic Neo"/>
                <a:ea typeface="Apple SD Gothic Neo"/>
              </a:rPr>
              <a:t>과자 한 봉지의 평균 중량은 150g이다.   </a:t>
            </a:r>
            <a:r>
              <a:rPr sz="2000" b="0" i="1">
                <a:solidFill>
                  <a:srgbClr val="555555"/>
                </a:solidFill>
                <a:latin typeface="Apple SD Gothic Neo"/>
                <a:ea typeface="Apple SD Gothic Neo"/>
              </a:rPr>
              <a:t>(μ = 150)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15600" cy="1371600"/>
          </a:xfrm>
          <a:prstGeom prst="roundRect">
            <a:avLst/>
          </a:prstGeom>
          <a:solidFill>
            <a:srgbClr val="FFF1E3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tlCol="0" anchor="ctr"/>
          <a:lstStyle/>
          <a:p>
            <a:pPr algn="ctr"/>
            <a:r>
              <a:rPr sz="2200" b="1" i="0">
                <a:solidFill>
                  <a:srgbClr val="E08A1E"/>
                </a:solidFill>
                <a:latin typeface="Apple SD Gothic Neo"/>
                <a:ea typeface="Apple SD Gothic Neo"/>
              </a:rPr>
              <a:t>대립가설 (H₁)   </a:t>
            </a:r>
            <a:r>
              <a:rPr sz="2200" b="0" i="0">
                <a:solidFill>
                  <a:srgbClr val="222222"/>
                </a:solidFill>
                <a:latin typeface="Apple SD Gothic Neo"/>
                <a:ea typeface="Apple SD Gothic Neo"/>
              </a:rPr>
              <a:t>과자 한 봉지의 평균 중량은 150g이 아니다.   </a:t>
            </a:r>
            <a:r>
              <a:rPr sz="2000" b="0" i="1">
                <a:solidFill>
                  <a:srgbClr val="555555"/>
                </a:solidFill>
                <a:latin typeface="Apple SD Gothic Neo"/>
                <a:ea typeface="Apple SD Gothic Neo"/>
              </a:rPr>
              <a:t>(μ ≠ 150)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10515600" cy="1234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/>
            <a:r>
              <a:rPr sz="1500" b="1" i="0">
                <a:solidFill>
                  <a:srgbClr val="1B2A4A"/>
                </a:solidFill>
                <a:latin typeface="Apple SD Gothic Neo"/>
                <a:ea typeface="Apple SD Gothic Neo"/>
              </a:rPr>
              <a:t>포인트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333333"/>
                </a:solidFill>
                <a:latin typeface="Apple SD Gothic Neo"/>
                <a:ea typeface="Apple SD Gothic Neo"/>
              </a:rPr>
              <a:t>"150g보다 무겁다/가볍다"가 아니라 "150g이 아니다"이므로 방향을 정하지 않는 양측검정(two-sided test)입니다.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303</Words>
  <Application>Microsoft Macintosh PowerPoint</Application>
  <PresentationFormat>와이드스크린</PresentationFormat>
  <Paragraphs>27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Apple SD Gothic Neo</vt:lpstr>
      <vt:lpstr>GungSeo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정유빈</cp:lastModifiedBy>
  <cp:revision>2</cp:revision>
  <dcterms:created xsi:type="dcterms:W3CDTF">2013-01-27T09:14:16Z</dcterms:created>
  <dcterms:modified xsi:type="dcterms:W3CDTF">2026-07-28T06:33:38Z</dcterms:modified>
  <cp:category/>
</cp:coreProperties>
</file>